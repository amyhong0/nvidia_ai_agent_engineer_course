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5143500" cx="9144000"/>
  <p:notesSz cx="6858000" cy="9144000"/>
  <p:embeddedFontLst>
    <p:embeddedFont>
      <p:font typeface="Helvetica Neue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0" roundtripDataSignature="AMtx7mhixrdnSOLMXbPalB+tsgsLI7h7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7BBFDE-53E4-4BB6-A659-04D375EC195D}">
  <a:tblStyle styleId="{637BBFDE-53E4-4BB6-A659-04D375EC19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customschemas.google.com/relationships/presentationmetadata" Target="meta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HelveticaNeue-bold.fntdata"/><Relationship Id="rId12" Type="http://schemas.openxmlformats.org/officeDocument/2006/relationships/slide" Target="slides/slide7.xml"/><Relationship Id="rId56" Type="http://schemas.openxmlformats.org/officeDocument/2006/relationships/font" Target="fonts/HelveticaNeue-regular.fntdata"/><Relationship Id="rId15" Type="http://schemas.openxmlformats.org/officeDocument/2006/relationships/slide" Target="slides/slide10.xml"/><Relationship Id="rId59" Type="http://schemas.openxmlformats.org/officeDocument/2006/relationships/font" Target="fonts/HelveticaNeue-boldItalic.fntdata"/><Relationship Id="rId14" Type="http://schemas.openxmlformats.org/officeDocument/2006/relationships/slide" Target="slides/slide9.xml"/><Relationship Id="rId58" Type="http://schemas.openxmlformats.org/officeDocument/2006/relationships/font" Target="fonts/HelveticaNeue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f22fe52246_0_2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" name="Google Shape;21;g3f22fe52246_0_2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2a70976d9_0_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" name="Google Shape;38;g3f2a70976d9_0_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22fe52246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g3f22fe52246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22fe52246_0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g3f22fe52246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22fe52246_0_1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g3f22fe52246_0_1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2a70976d9_0_7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3f2a70976d9_0_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22fe52246_0_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f22fe52246_0_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22fe52246_0_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f22fe52246_0_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22fe52246_0_1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f22fe52246_0_1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22fe52246_0_2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3f22fe52246_0_2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22fe52246_0_1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3f22fe52246_0_1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2a70976d9_0_1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g3f2a70976d9_0_1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22fe52246_0_3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g3f22fe52246_0_3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22fe52246_0_3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g3f22fe52246_0_3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22fe52246_0_4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g3f22fe52246_0_4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22fe52246_0_4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g3f22fe52246_0_4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22fe52246_0_4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g3f22fe52246_0_4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22fe52246_0_4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g3f22fe52246_0_4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22fe52246_0_4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f22fe52246_0_4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275b9f5c3_0_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g3f275b9f5c3_0_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275b9f5c3_0_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f275b9f5c3_0_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f22fe52246_0_3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g3f22fe52246_0_3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279b47e8f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2" name="Google Shape;402;g3f279b47e8f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f279b47e8f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g3f279b47e8f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279b47e8f_0_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0" name="Google Shape;420;g3f279b47e8f_0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f279b47e8f_0_18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4" name="Google Shape;454;g3f279b47e8f_0_1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f279b47e8f_0_9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" name="Google Shape;472;g3f279b47e8f_0_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f279b47e8f_0_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3" name="Google Shape;483;g3f279b47e8f_0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f299fd751c_0_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5" name="Google Shape;505;g3f299fd751c_0_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f299fd751c_0_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7" name="Google Shape;517;g3f299fd751c_0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f299fd751c_0_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g3f299fd751c_0_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f2a70976d9_0_1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" name="Google Shape;551;g3f2a70976d9_0_1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f279b47e8f_0_1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3" name="Google Shape;563;g3f279b47e8f_0_1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f299fd751c_0_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3" name="Google Shape;583;g3f299fd751c_0_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f279b47e8f_0_1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3" name="Google Shape;593;g3f279b47e8f_0_1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f2a70976d9_0_1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g3f2a70976d9_0_1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f22fe52246_0_2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3" name="Google Shape;623;g3f22fe52246_0_2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f22fe52246_0_2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0" name="Google Shape;630;g3f22fe52246_0_2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f22fe52246_0_2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Prompt Engineering </a:t>
            </a:r>
            <a:r>
              <a:rPr lang="en-US"/>
              <a:t>실습</a:t>
            </a:r>
            <a:endParaRPr/>
          </a:p>
        </p:txBody>
      </p:sp>
      <p:sp>
        <p:nvSpPr>
          <p:cNvPr id="643" name="Google Shape;643;g3f22fe52246_0_2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f22fe52246_0_2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RAG </a:t>
            </a:r>
            <a:r>
              <a:rPr lang="en-US"/>
              <a:t>실습 - Notebook LM?</a:t>
            </a:r>
            <a:endParaRPr/>
          </a:p>
        </p:txBody>
      </p:sp>
      <p:sp>
        <p:nvSpPr>
          <p:cNvPr id="658" name="Google Shape;658;g3f22fe52246_0_2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f22fe52246_0_29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0" name="Google Shape;680;g3f22fe52246_0_2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f22fe52246_0_30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2" name="Google Shape;692;g3f22fe52246_0_3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f22fe52246_0_3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4" name="Google Shape;704;g3f22fe52246_0_3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f299fd751c_0_10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5" name="Google Shape;715;g3f299fd751c_0_1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f22fe52246_0_50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6" name="Google Shape;726;g3f22fe52246_0_5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f275b9f5c3_0_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6" name="Google Shape;736;g3f275b9f5c3_0_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f275b9f5c3_0_10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9" name="Google Shape;749;g3f275b9f5c3_0_1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f275b9f5c3_0_1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1" name="Google Shape;761;g3f275b9f5c3_0_1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hyperlink" Target="https://ko.wikipedia.org/wiki/%EB%AC%B4%EC%A3%BC_(%EB%8B%B9%EB%82%98%EB%9D%BC)" TargetMode="External"/><Relationship Id="rId10" Type="http://schemas.openxmlformats.org/officeDocument/2006/relationships/hyperlink" Target="https://ko.wikipedia.org/wiki/%EB%8B%B9_%EA%B3%A0%EC%A2%85" TargetMode="External"/><Relationship Id="rId13" Type="http://schemas.openxmlformats.org/officeDocument/2006/relationships/hyperlink" Target="https://ko.wikipedia.org/wiki/%ED%95%9C%EC%96%B4_%EB%B3%91%EC%9D%8C" TargetMode="External"/><Relationship Id="rId12" Type="http://schemas.openxmlformats.org/officeDocument/2006/relationships/hyperlink" Target="https://ko.wikipedia.org/wiki/%EC%A4%91%EA%B5%AD%EC%96%B4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ko.wikipedia.org/wiki/624%EB%85%84" TargetMode="External"/><Relationship Id="rId4" Type="http://schemas.openxmlformats.org/officeDocument/2006/relationships/hyperlink" Target="https://ko.wikipedia.org/wiki/2%EC%9B%94_17%EC%9D%BC" TargetMode="External"/><Relationship Id="rId9" Type="http://schemas.openxmlformats.org/officeDocument/2006/relationships/hyperlink" Target="https://ko.wikipedia.org/wiki/%EB%8B%B9%EB%82%98%EB%9D%BC" TargetMode="External"/><Relationship Id="rId14" Type="http://schemas.openxmlformats.org/officeDocument/2006/relationships/hyperlink" Target="https://ko.wikipedia.org/wiki/%EC%9C%84%ED%82%A4%EB%B0%B1%EA%B3%BC:%EC%A4%91%EA%B5%AD%EC%96%B4%EC%9D%98_%ED%95%9C%EA%B8%80_%ED%91%9C%EA%B8%B0" TargetMode="External"/><Relationship Id="rId5" Type="http://schemas.openxmlformats.org/officeDocument/2006/relationships/hyperlink" Target="https://ko.wikipedia.org/wiki/%EC%9D%8C%EB%A0%A5_1%EC%9B%94_23%EC%9D%BC" TargetMode="External"/><Relationship Id="rId6" Type="http://schemas.openxmlformats.org/officeDocument/2006/relationships/hyperlink" Target="https://ko.wikipedia.org/wiki/705%EB%85%84" TargetMode="External"/><Relationship Id="rId7" Type="http://schemas.openxmlformats.org/officeDocument/2006/relationships/hyperlink" Target="https://ko.wikipedia.org/wiki/12%EC%9B%94_16%EC%9D%BC" TargetMode="External"/><Relationship Id="rId8" Type="http://schemas.openxmlformats.org/officeDocument/2006/relationships/hyperlink" Target="https://ko.wikipedia.org/wiki/%EC%9D%8C%EB%A0%A5_11%EC%9B%94_26%EC%9D%BC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62E4A"/>
          </a:solidFill>
          <a:ln cap="flat" cmpd="sng" w="12700">
            <a:solidFill>
              <a:srgbClr val="16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760720" y="1645920"/>
            <a:ext cx="228601" cy="1828801"/>
          </a:xfrm>
          <a:prstGeom prst="rect">
            <a:avLst/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502919" y="2156255"/>
            <a:ext cx="5029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f22fe52246_0_243"/>
          <p:cNvSpPr/>
          <p:nvPr/>
        </p:nvSpPr>
        <p:spPr>
          <a:xfrm>
            <a:off x="0" y="0"/>
            <a:ext cx="7667100" cy="5143500"/>
          </a:xfrm>
          <a:prstGeom prst="roundRect">
            <a:avLst>
              <a:gd fmla="val 1871" name="adj"/>
            </a:avLst>
          </a:prstGeom>
          <a:solidFill>
            <a:srgbClr val="E8402A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g3f22fe52246_0_243"/>
          <p:cNvSpPr/>
          <p:nvPr/>
        </p:nvSpPr>
        <p:spPr>
          <a:xfrm>
            <a:off x="0" y="0"/>
            <a:ext cx="6376200" cy="51435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g3f22fe52246_0_243"/>
          <p:cNvSpPr txBox="1"/>
          <p:nvPr/>
        </p:nvSpPr>
        <p:spPr>
          <a:xfrm>
            <a:off x="621875" y="2117550"/>
            <a:ext cx="2369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b="1" lang="en-US" sz="3200">
                <a:latin typeface="Calibri"/>
                <a:ea typeface="Calibri"/>
                <a:cs typeface="Calibri"/>
                <a:sym typeface="Calibri"/>
              </a:rPr>
              <a:t>LLM이란?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36316" y="297179"/>
            <a:ext cx="1280161" cy="320042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LLM이란?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1051560"/>
            <a:ext cx="8229600" cy="390906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731519" y="1234439"/>
            <a:ext cx="7680900" cy="24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(Large Language Model)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Language Model (언어 모델) : 사람의 언어를 학습한 AI 모델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Large Language Model : 거대한 사람의 언어를 학습한 AI 모델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초창기 언어 모델의 파라미터 수는 1억 개 가량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최신 모델들의 파라미터 수는 1천억~1조 로 추정되고 있음.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언어 모델들은 왜 이렇게 거대해졌을까?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f2a70976d9_0_5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g3f2a70976d9_0_5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f2a70976d9_0_5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f2a70976d9_0_5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LLM이란?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3f2a70976d9_0_5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3f2a70976d9_0_55"/>
          <p:cNvSpPr txBox="1"/>
          <p:nvPr/>
        </p:nvSpPr>
        <p:spPr>
          <a:xfrm>
            <a:off x="731523" y="1234450"/>
            <a:ext cx="5524800" cy="27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딥러닝의 부상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단어 임베딩</a:t>
            </a:r>
            <a:b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단어의 뜻을 ‘느낌’으로 이해하기 시작. 수많은 단어들을 수백, 수천 개의 숫자로 이뤄진 벡터 좌표로 인식.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RNN 등장</a:t>
            </a:r>
            <a:b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RNN 레이어 구조 등장으로 문장이 길어져도 앞 부분의 중요한 맥락을 유지할 수 있게 됨.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g3f2a70976d9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6725" y="1234450"/>
            <a:ext cx="2120600" cy="1775175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</p:pic>
      <p:pic>
        <p:nvPicPr>
          <p:cNvPr id="47" name="Google Shape;47;g3f2a70976d9_0_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6500" y="3619626"/>
            <a:ext cx="3480822" cy="91440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</p:pic>
      <p:sp>
        <p:nvSpPr>
          <p:cNvPr id="48" name="Google Shape;48;g3f2a70976d9_0_55"/>
          <p:cNvSpPr txBox="1"/>
          <p:nvPr/>
        </p:nvSpPr>
        <p:spPr>
          <a:xfrm>
            <a:off x="6891625" y="3105200"/>
            <a:ext cx="109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Calibri"/>
                <a:ea typeface="Calibri"/>
                <a:cs typeface="Calibri"/>
                <a:sym typeface="Calibri"/>
              </a:rPr>
              <a:t>&lt;단어 임베딩&gt;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f2a70976d9_0_55"/>
          <p:cNvSpPr txBox="1"/>
          <p:nvPr/>
        </p:nvSpPr>
        <p:spPr>
          <a:xfrm>
            <a:off x="6211513" y="4621850"/>
            <a:ext cx="109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Calibri"/>
                <a:ea typeface="Calibri"/>
                <a:cs typeface="Calibri"/>
                <a:sym typeface="Calibri"/>
              </a:rPr>
              <a:t>&lt;RNN 레이어&gt;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22fe52246_0_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f22fe52246_0_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f22fe52246_0_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3f22fe52246_0_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LLM이란?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f22fe52246_0_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f22fe52246_0_0"/>
          <p:cNvSpPr txBox="1"/>
          <p:nvPr/>
        </p:nvSpPr>
        <p:spPr>
          <a:xfrm>
            <a:off x="731519" y="1234439"/>
            <a:ext cx="76809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(Large Language Model)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시작은 Attention 구조의 등장 (transformers)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g3f22fe5224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4000" y="2315938"/>
            <a:ext cx="3480822" cy="91440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</p:pic>
      <p:sp>
        <p:nvSpPr>
          <p:cNvPr id="61" name="Google Shape;61;g3f22fe52246_0_0"/>
          <p:cNvSpPr txBox="1"/>
          <p:nvPr/>
        </p:nvSpPr>
        <p:spPr>
          <a:xfrm>
            <a:off x="2525963" y="3367513"/>
            <a:ext cx="75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&lt;RNN&gt;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22fe52246_0_0"/>
          <p:cNvSpPr txBox="1"/>
          <p:nvPr/>
        </p:nvSpPr>
        <p:spPr>
          <a:xfrm>
            <a:off x="6222038" y="3938838"/>
            <a:ext cx="114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&lt;Attention&gt;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f22fe52246_0_0"/>
          <p:cNvSpPr txBox="1"/>
          <p:nvPr/>
        </p:nvSpPr>
        <p:spPr>
          <a:xfrm>
            <a:off x="1164000" y="3767725"/>
            <a:ext cx="34809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텍스트가 길어질수록 학습/추론 시간이 길어짐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기울기 소실/폭발 문제 발생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g3f22fe52246_0_0"/>
          <p:cNvCxnSpPr>
            <a:stCxn id="60" idx="3"/>
            <a:endCxn id="65" idx="1"/>
          </p:cNvCxnSpPr>
          <p:nvPr/>
        </p:nvCxnSpPr>
        <p:spPr>
          <a:xfrm>
            <a:off x="4644822" y="2773138"/>
            <a:ext cx="134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5" name="Google Shape;65;g3f22fe52246_0_0"/>
          <p:cNvPicPr preferRelativeResize="0"/>
          <p:nvPr/>
        </p:nvPicPr>
        <p:blipFill rotWithShape="1">
          <a:blip r:embed="rId4">
            <a:alphaModFix/>
          </a:blip>
          <a:srcRect b="0" l="19485" r="6709" t="0"/>
          <a:stretch/>
        </p:blipFill>
        <p:spPr>
          <a:xfrm>
            <a:off x="5986213" y="1673063"/>
            <a:ext cx="1617673" cy="2200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6" name="Google Shape;66;g3f22fe52246_0_0"/>
          <p:cNvSpPr txBox="1"/>
          <p:nvPr/>
        </p:nvSpPr>
        <p:spPr>
          <a:xfrm>
            <a:off x="5735600" y="4339038"/>
            <a:ext cx="21189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텍스트 병렬 처리 가능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더 긴 텍스트 처리 가능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22fe52246_0_1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f22fe52246_0_1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f22fe52246_0_1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f22fe52246_0_1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LLM이란?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f22fe52246_0_1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f22fe52246_0_1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(Large Language Model)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g3f22fe52246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775" y="1761725"/>
            <a:ext cx="1935901" cy="274652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f22fe52246_0_15"/>
          <p:cNvSpPr txBox="1"/>
          <p:nvPr/>
        </p:nvSpPr>
        <p:spPr>
          <a:xfrm>
            <a:off x="1446425" y="4508250"/>
            <a:ext cx="136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&lt;transformer&gt;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g3f22fe52246_0_15"/>
          <p:cNvPicPr preferRelativeResize="0"/>
          <p:nvPr/>
        </p:nvPicPr>
        <p:blipFill rotWithShape="1">
          <a:blip r:embed="rId4">
            <a:alphaModFix/>
          </a:blip>
          <a:srcRect b="11222" l="39570" r="0" t="0"/>
          <a:stretch/>
        </p:blipFill>
        <p:spPr>
          <a:xfrm>
            <a:off x="4168750" y="1761713"/>
            <a:ext cx="2269501" cy="2139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g3f22fe52246_0_15"/>
          <p:cNvCxnSpPr/>
          <p:nvPr/>
        </p:nvCxnSpPr>
        <p:spPr>
          <a:xfrm>
            <a:off x="3098675" y="4436400"/>
            <a:ext cx="2241000" cy="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g3f22fe52246_0_15"/>
          <p:cNvCxnSpPr/>
          <p:nvPr/>
        </p:nvCxnSpPr>
        <p:spPr>
          <a:xfrm rot="10800000">
            <a:off x="5339738" y="4224000"/>
            <a:ext cx="0" cy="2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g3f22fe52246_0_15"/>
          <p:cNvCxnSpPr/>
          <p:nvPr/>
        </p:nvCxnSpPr>
        <p:spPr>
          <a:xfrm>
            <a:off x="4655513" y="4224000"/>
            <a:ext cx="129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g3f22fe52246_0_15"/>
          <p:cNvCxnSpPr/>
          <p:nvPr/>
        </p:nvCxnSpPr>
        <p:spPr>
          <a:xfrm rot="10800000">
            <a:off x="4659038" y="39229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g3f22fe52246_0_15"/>
          <p:cNvCxnSpPr/>
          <p:nvPr/>
        </p:nvCxnSpPr>
        <p:spPr>
          <a:xfrm rot="10800000">
            <a:off x="5949088" y="3912550"/>
            <a:ext cx="2400" cy="31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5" name="Google Shape;85;g3f22fe52246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8875" y="1761725"/>
            <a:ext cx="1507808" cy="213917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f22fe52246_0_15"/>
          <p:cNvSpPr txBox="1"/>
          <p:nvPr/>
        </p:nvSpPr>
        <p:spPr>
          <a:xfrm>
            <a:off x="6636000" y="3832775"/>
            <a:ext cx="118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Calibri"/>
                <a:ea typeface="Calibri"/>
                <a:cs typeface="Calibri"/>
                <a:sym typeface="Calibri"/>
              </a:rPr>
              <a:t>Encoder-Decoder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f22fe52246_0_15"/>
          <p:cNvSpPr txBox="1"/>
          <p:nvPr/>
        </p:nvSpPr>
        <p:spPr>
          <a:xfrm>
            <a:off x="6946950" y="1486000"/>
            <a:ext cx="55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Calibri"/>
                <a:ea typeface="Calibri"/>
                <a:cs typeface="Calibri"/>
                <a:sym typeface="Calibri"/>
              </a:rPr>
              <a:t>BART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22fe52246_0_10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f22fe52246_0_10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f22fe52246_0_10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f22fe52246_0_10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이란?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f22fe52246_0_10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f22fe52246_0_100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(Large Language Model)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f22fe52246_0_100"/>
          <p:cNvSpPr/>
          <p:nvPr/>
        </p:nvSpPr>
        <p:spPr>
          <a:xfrm>
            <a:off x="1162600" y="2181588"/>
            <a:ext cx="1529700" cy="521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f22fe52246_0_100"/>
          <p:cNvSpPr/>
          <p:nvPr/>
        </p:nvSpPr>
        <p:spPr>
          <a:xfrm>
            <a:off x="1162600" y="3568888"/>
            <a:ext cx="1529700" cy="521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f22fe52246_0_100"/>
          <p:cNvSpPr/>
          <p:nvPr/>
        </p:nvSpPr>
        <p:spPr>
          <a:xfrm>
            <a:off x="3321950" y="2221950"/>
            <a:ext cx="4723200" cy="44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동해물과 백두산이 마르고 </a:t>
            </a:r>
            <a:r>
              <a:rPr lang="en-US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닳도록 하느님이 보우하사 우리…</a:t>
            </a:r>
            <a:endParaRPr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f22fe52246_0_100"/>
          <p:cNvSpPr/>
          <p:nvPr/>
        </p:nvSpPr>
        <p:spPr>
          <a:xfrm>
            <a:off x="3751025" y="3609250"/>
            <a:ext cx="2023200" cy="44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전작만 못한 작품이네요</a:t>
            </a:r>
            <a:endParaRPr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f22fe52246_0_100"/>
          <p:cNvSpPr txBox="1"/>
          <p:nvPr/>
        </p:nvSpPr>
        <p:spPr>
          <a:xfrm>
            <a:off x="6891875" y="3894200"/>
            <a:ext cx="7242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부정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f22fe52246_0_100"/>
          <p:cNvSpPr txBox="1"/>
          <p:nvPr/>
        </p:nvSpPr>
        <p:spPr>
          <a:xfrm>
            <a:off x="6891875" y="3335300"/>
            <a:ext cx="7242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긍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정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g3f22fe52246_0_100"/>
          <p:cNvCxnSpPr>
            <a:stCxn id="101" idx="3"/>
            <a:endCxn id="103" idx="1"/>
          </p:cNvCxnSpPr>
          <p:nvPr/>
        </p:nvCxnSpPr>
        <p:spPr>
          <a:xfrm flipH="1" rot="10800000">
            <a:off x="5774225" y="3535300"/>
            <a:ext cx="1117800" cy="29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g3f22fe52246_0_100"/>
          <p:cNvCxnSpPr>
            <a:stCxn id="101" idx="3"/>
            <a:endCxn id="102" idx="1"/>
          </p:cNvCxnSpPr>
          <p:nvPr/>
        </p:nvCxnSpPr>
        <p:spPr>
          <a:xfrm>
            <a:off x="5774225" y="3829600"/>
            <a:ext cx="1117800" cy="26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g3f22fe52246_0_100"/>
          <p:cNvCxnSpPr>
            <a:stCxn id="98" idx="3"/>
            <a:endCxn id="100" idx="1"/>
          </p:cNvCxnSpPr>
          <p:nvPr/>
        </p:nvCxnSpPr>
        <p:spPr>
          <a:xfrm>
            <a:off x="2692300" y="2442288"/>
            <a:ext cx="62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g3f22fe52246_0_100"/>
          <p:cNvCxnSpPr>
            <a:stCxn id="99" idx="3"/>
            <a:endCxn id="101" idx="1"/>
          </p:cNvCxnSpPr>
          <p:nvPr/>
        </p:nvCxnSpPr>
        <p:spPr>
          <a:xfrm>
            <a:off x="2692300" y="3829588"/>
            <a:ext cx="105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" name="Google Shape;108;g3f22fe52246_0_100"/>
          <p:cNvSpPr txBox="1"/>
          <p:nvPr/>
        </p:nvSpPr>
        <p:spPr>
          <a:xfrm>
            <a:off x="5085350" y="2703000"/>
            <a:ext cx="119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텍스트 생성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f22fe52246_0_100"/>
          <p:cNvSpPr txBox="1"/>
          <p:nvPr/>
        </p:nvSpPr>
        <p:spPr>
          <a:xfrm>
            <a:off x="5085350" y="4294400"/>
            <a:ext cx="119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텍스트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분류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f22fe52246_0_100"/>
          <p:cNvSpPr txBox="1"/>
          <p:nvPr/>
        </p:nvSpPr>
        <p:spPr>
          <a:xfrm>
            <a:off x="1329250" y="2703000"/>
            <a:ext cx="119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Transformer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Decoder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f22fe52246_0_100"/>
          <p:cNvSpPr txBox="1"/>
          <p:nvPr/>
        </p:nvSpPr>
        <p:spPr>
          <a:xfrm>
            <a:off x="1329250" y="4090300"/>
            <a:ext cx="119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Transformer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Encoder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2a70976d9_0_7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f2a70976d9_0_7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f2a70976d9_0_7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2a70976d9_0_7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LLM이란?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f2a70976d9_0_7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f2a70976d9_0_72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(Large Language Model)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g3f2a70976d9_0_72"/>
          <p:cNvPicPr preferRelativeResize="0"/>
          <p:nvPr/>
        </p:nvPicPr>
        <p:blipFill rotWithShape="1">
          <a:blip r:embed="rId3">
            <a:alphaModFix/>
          </a:blip>
          <a:srcRect b="0" l="19485" r="6709" t="0"/>
          <a:stretch/>
        </p:blipFill>
        <p:spPr>
          <a:xfrm>
            <a:off x="938800" y="1963875"/>
            <a:ext cx="1039099" cy="1413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3" name="Google Shape;123;g3f2a70976d9_0_72"/>
          <p:cNvPicPr preferRelativeResize="0"/>
          <p:nvPr/>
        </p:nvPicPr>
        <p:blipFill rotWithShape="1">
          <a:blip r:embed="rId3">
            <a:alphaModFix/>
          </a:blip>
          <a:srcRect b="0" l="19485" r="6709" t="0"/>
          <a:stretch/>
        </p:blipFill>
        <p:spPr>
          <a:xfrm>
            <a:off x="1106950" y="2108400"/>
            <a:ext cx="1039099" cy="1413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4" name="Google Shape;124;g3f2a70976d9_0_72"/>
          <p:cNvPicPr preferRelativeResize="0"/>
          <p:nvPr/>
        </p:nvPicPr>
        <p:blipFill rotWithShape="1">
          <a:blip r:embed="rId3">
            <a:alphaModFix/>
          </a:blip>
          <a:srcRect b="0" l="19485" r="6709" t="0"/>
          <a:stretch/>
        </p:blipFill>
        <p:spPr>
          <a:xfrm>
            <a:off x="1259350" y="2298525"/>
            <a:ext cx="1039099" cy="1413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5" name="Google Shape;125;g3f2a70976d9_0_72"/>
          <p:cNvPicPr preferRelativeResize="0"/>
          <p:nvPr/>
        </p:nvPicPr>
        <p:blipFill rotWithShape="1">
          <a:blip r:embed="rId3">
            <a:alphaModFix/>
          </a:blip>
          <a:srcRect b="0" l="19485" r="6709" t="0"/>
          <a:stretch/>
        </p:blipFill>
        <p:spPr>
          <a:xfrm>
            <a:off x="1468900" y="2491925"/>
            <a:ext cx="1039099" cy="1413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26" name="Google Shape;126;g3f2a70976d9_0_72"/>
          <p:cNvSpPr/>
          <p:nvPr/>
        </p:nvSpPr>
        <p:spPr>
          <a:xfrm>
            <a:off x="2993400" y="2491925"/>
            <a:ext cx="1125600" cy="338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f2a70976d9_0_72"/>
          <p:cNvSpPr/>
          <p:nvPr/>
        </p:nvSpPr>
        <p:spPr>
          <a:xfrm>
            <a:off x="3145800" y="2644325"/>
            <a:ext cx="1125600" cy="338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f2a70976d9_0_72"/>
          <p:cNvSpPr/>
          <p:nvPr/>
        </p:nvSpPr>
        <p:spPr>
          <a:xfrm>
            <a:off x="3298200" y="2796725"/>
            <a:ext cx="1125600" cy="338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f2a70976d9_0_72"/>
          <p:cNvSpPr/>
          <p:nvPr/>
        </p:nvSpPr>
        <p:spPr>
          <a:xfrm>
            <a:off x="3450600" y="2949125"/>
            <a:ext cx="1125600" cy="338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f2a70976d9_0_72"/>
          <p:cNvSpPr txBox="1"/>
          <p:nvPr/>
        </p:nvSpPr>
        <p:spPr>
          <a:xfrm>
            <a:off x="795050" y="4216800"/>
            <a:ext cx="761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레이어가 많아질수록, 데이터가 많아질수록 모델이 언어를 잘 이해한다는 것을 발견하게됨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g3f2a70976d9_0_72"/>
          <p:cNvCxnSpPr/>
          <p:nvPr/>
        </p:nvCxnSpPr>
        <p:spPr>
          <a:xfrm>
            <a:off x="4715275" y="2886450"/>
            <a:ext cx="480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" name="Google Shape;132;g3f2a70976d9_0_72"/>
          <p:cNvSpPr/>
          <p:nvPr/>
        </p:nvSpPr>
        <p:spPr>
          <a:xfrm>
            <a:off x="5728350" y="2145300"/>
            <a:ext cx="2421900" cy="148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Q. 대한민국의 수도는 어디인가요?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대한민국의 수도는 서울입니다.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22fe52246_0_6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f22fe52246_0_6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f22fe52246_0_6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f22fe52246_0_6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f22fe52246_0_6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f22fe52246_0_6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학습 과정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f22fe52246_0_64"/>
          <p:cNvSpPr/>
          <p:nvPr/>
        </p:nvSpPr>
        <p:spPr>
          <a:xfrm>
            <a:off x="1461750" y="2079925"/>
            <a:ext cx="2238000" cy="144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사전학습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(Pre-training)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f22fe52246_0_64"/>
          <p:cNvSpPr/>
          <p:nvPr/>
        </p:nvSpPr>
        <p:spPr>
          <a:xfrm>
            <a:off x="5334750" y="2079925"/>
            <a:ext cx="2238000" cy="144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미세조정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(Fine-tuning)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f22fe52246_0_64"/>
          <p:cNvSpPr txBox="1"/>
          <p:nvPr/>
        </p:nvSpPr>
        <p:spPr>
          <a:xfrm>
            <a:off x="1325250" y="3747025"/>
            <a:ext cx="2511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대량의 텍스트를 학습하며 모델의 전반적인 언어에 대한 이해도를 높이는 과정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f22fe52246_0_64"/>
          <p:cNvSpPr txBox="1"/>
          <p:nvPr/>
        </p:nvSpPr>
        <p:spPr>
          <a:xfrm>
            <a:off x="5198250" y="3854875"/>
            <a:ext cx="251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특정 작업에 대한 성능을 향상시키기 위해 수행하는 과정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22fe52246_0_8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f22fe52246_0_8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f22fe52246_0_8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f22fe52246_0_87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f22fe52246_0_8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f22fe52246_0_8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사전 학습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f22fe52246_0_87"/>
          <p:cNvSpPr txBox="1"/>
          <p:nvPr/>
        </p:nvSpPr>
        <p:spPr>
          <a:xfrm>
            <a:off x="889525" y="1801150"/>
            <a:ext cx="7522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일반적으로 AI 모델 학습에는 다량의 라벨링된 데이터가 필요함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전세계에 존재하는 수많은 텍스트들을 어떻게 전부 라벨링하고 어떻게 학습 시킬 것인가?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f22fe52246_0_87"/>
          <p:cNvSpPr/>
          <p:nvPr/>
        </p:nvSpPr>
        <p:spPr>
          <a:xfrm>
            <a:off x="1039075" y="2730025"/>
            <a:ext cx="7053300" cy="1952100"/>
          </a:xfrm>
          <a:prstGeom prst="roundRect">
            <a:avLst>
              <a:gd fmla="val 10001" name="adj"/>
            </a:avLst>
          </a:prstGeom>
          <a:solidFill>
            <a:srgbClr val="D8DDE6"/>
          </a:solidFill>
          <a:ln cap="flat" cmpd="sng" w="9525">
            <a:solidFill>
              <a:srgbClr val="EBE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f22fe52246_0_87"/>
          <p:cNvSpPr txBox="1"/>
          <p:nvPr/>
        </p:nvSpPr>
        <p:spPr>
          <a:xfrm>
            <a:off x="1039075" y="2857200"/>
            <a:ext cx="3188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02122"/>
                </a:solidFill>
                <a:highlight>
                  <a:srgbClr val="FFFFFF"/>
                </a:highlight>
              </a:rPr>
              <a:t>측천무후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(則天武后,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624년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2월 17일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(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음력 1월 23일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) ~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705년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12월 16일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(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음력 11월 26일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))는 중국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당나라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 제3대 황제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고종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의 황후이자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무주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(武周)의 여제이다. </a:t>
            </a:r>
            <a:r>
              <a:rPr b="1" lang="en-US" sz="1200">
                <a:solidFill>
                  <a:srgbClr val="202122"/>
                </a:solidFill>
                <a:highlight>
                  <a:srgbClr val="FFFFFF"/>
                </a:highlight>
              </a:rPr>
              <a:t>무측천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(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중국어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: 武則天,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병음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: Wǔ Zétiān 우쩌톈</a:t>
            </a:r>
            <a:r>
              <a:rPr baseline="30000" lang="en-US" sz="1200">
                <a:solidFill>
                  <a:srgbClr val="202122"/>
                </a:solidFill>
                <a:highlight>
                  <a:srgbClr val="FFFFFF"/>
                </a:highlight>
              </a:rPr>
              <a:t>[</a:t>
            </a:r>
            <a:r>
              <a:rPr baseline="30000"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*</a:t>
            </a:r>
            <a:r>
              <a:rPr baseline="30000" lang="en-US" sz="1200">
                <a:solidFill>
                  <a:srgbClr val="202122"/>
                </a:solidFill>
                <a:highlight>
                  <a:srgbClr val="FFFFFF"/>
                </a:highlight>
              </a:rPr>
              <a:t>]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)이라 부르기도 한다. 공포 정치를 했다는 비난과, 민생을 보살펴 나라를 훌륭히 다스린 여제라는 상반된 평가를 받고 있다.</a:t>
            </a:r>
            <a:r>
              <a:rPr lang="en-US" sz="1200">
                <a:solidFill>
                  <a:schemeClr val="dk1"/>
                </a:solidFill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f22fe52246_0_87"/>
          <p:cNvSpPr txBox="1"/>
          <p:nvPr/>
        </p:nvSpPr>
        <p:spPr>
          <a:xfrm>
            <a:off x="4526350" y="2780100"/>
            <a:ext cx="35661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와 오늘 편의점 신메뉴 먹어봤는데 이거 진짜 레전드임 왜 이제 나온 거임?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요즘 날씨가 미쳤나 6월인데 이게 무슨 찜통이야 에어컨 없으면 집에서 못 버팀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주말에 볼 넷플릭스 추천 좀요 어제 정주행한 거 다 봐버려서 볼 게 없음 ㅠ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22fe52246_0_13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f22fe52246_0_13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f22fe52246_0_13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f22fe52246_0_13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f22fe52246_0_13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f22fe52246_0_13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사전 학습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f22fe52246_0_134"/>
          <p:cNvSpPr/>
          <p:nvPr/>
        </p:nvSpPr>
        <p:spPr>
          <a:xfrm>
            <a:off x="787175" y="1826300"/>
            <a:ext cx="3377100" cy="306900"/>
          </a:xfrm>
          <a:prstGeom prst="roundRect">
            <a:avLst>
              <a:gd fmla="val 16667" name="adj"/>
            </a:avLst>
          </a:prstGeom>
          <a:solidFill>
            <a:srgbClr val="1A3A5C"/>
          </a:solidFill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f22fe52246_0_134"/>
          <p:cNvSpPr/>
          <p:nvPr/>
        </p:nvSpPr>
        <p:spPr>
          <a:xfrm>
            <a:off x="5035325" y="1826300"/>
            <a:ext cx="3377100" cy="306900"/>
          </a:xfrm>
          <a:prstGeom prst="roundRect">
            <a:avLst>
              <a:gd fmla="val 16667" name="adj"/>
            </a:avLst>
          </a:prstGeom>
          <a:solidFill>
            <a:srgbClr val="1A3A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BERT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f22fe52246_0_134"/>
          <p:cNvSpPr/>
          <p:nvPr/>
        </p:nvSpPr>
        <p:spPr>
          <a:xfrm>
            <a:off x="787175" y="2231025"/>
            <a:ext cx="3377100" cy="2440200"/>
          </a:xfrm>
          <a:prstGeom prst="roundRect">
            <a:avLst>
              <a:gd fmla="val 10001" name="adj"/>
            </a:avLst>
          </a:prstGeom>
          <a:solidFill>
            <a:srgbClr val="D8DDE6"/>
          </a:solidFill>
          <a:ln cap="flat" cmpd="sng" w="9525">
            <a:solidFill>
              <a:srgbClr val="EBE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f22fe52246_0_134"/>
          <p:cNvSpPr/>
          <p:nvPr/>
        </p:nvSpPr>
        <p:spPr>
          <a:xfrm>
            <a:off x="5035325" y="2231025"/>
            <a:ext cx="3377100" cy="2440200"/>
          </a:xfrm>
          <a:prstGeom prst="roundRect">
            <a:avLst>
              <a:gd fmla="val 9465" name="adj"/>
            </a:avLst>
          </a:prstGeom>
          <a:solidFill>
            <a:srgbClr val="D8DDE6"/>
          </a:solidFill>
          <a:ln cap="flat" cmpd="sng" w="9525">
            <a:solidFill>
              <a:srgbClr val="EBE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f22fe52246_0_134"/>
          <p:cNvSpPr txBox="1"/>
          <p:nvPr/>
        </p:nvSpPr>
        <p:spPr>
          <a:xfrm>
            <a:off x="787175" y="3830275"/>
            <a:ext cx="128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오늘의 날씨는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f22fe52246_0_134"/>
          <p:cNvSpPr txBox="1"/>
          <p:nvPr/>
        </p:nvSpPr>
        <p:spPr>
          <a:xfrm>
            <a:off x="2298575" y="3430075"/>
            <a:ext cx="91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맑습니다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f22fe52246_0_134"/>
          <p:cNvSpPr txBox="1"/>
          <p:nvPr/>
        </p:nvSpPr>
        <p:spPr>
          <a:xfrm>
            <a:off x="2298575" y="3830275"/>
            <a:ext cx="91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흐립니다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f22fe52246_0_134"/>
          <p:cNvSpPr txBox="1"/>
          <p:nvPr/>
        </p:nvSpPr>
        <p:spPr>
          <a:xfrm>
            <a:off x="2298575" y="4263225"/>
            <a:ext cx="10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맑을까요?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g3f22fe52246_0_134"/>
          <p:cNvCxnSpPr>
            <a:stCxn id="175" idx="3"/>
            <a:endCxn id="176" idx="1"/>
          </p:cNvCxnSpPr>
          <p:nvPr/>
        </p:nvCxnSpPr>
        <p:spPr>
          <a:xfrm flipH="1" rot="10800000">
            <a:off x="2067275" y="3630175"/>
            <a:ext cx="231300" cy="40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g3f22fe52246_0_134"/>
          <p:cNvCxnSpPr>
            <a:stCxn id="175" idx="3"/>
            <a:endCxn id="177" idx="1"/>
          </p:cNvCxnSpPr>
          <p:nvPr/>
        </p:nvCxnSpPr>
        <p:spPr>
          <a:xfrm>
            <a:off x="2067275" y="4030375"/>
            <a:ext cx="23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g3f22fe52246_0_134"/>
          <p:cNvCxnSpPr>
            <a:stCxn id="175" idx="3"/>
            <a:endCxn id="178" idx="1"/>
          </p:cNvCxnSpPr>
          <p:nvPr/>
        </p:nvCxnSpPr>
        <p:spPr>
          <a:xfrm>
            <a:off x="2067275" y="4030375"/>
            <a:ext cx="231300" cy="43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" name="Google Shape;182;g3f22fe52246_0_134"/>
          <p:cNvSpPr txBox="1"/>
          <p:nvPr/>
        </p:nvSpPr>
        <p:spPr>
          <a:xfrm>
            <a:off x="3487175" y="3251025"/>
            <a:ext cx="91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하지만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f22fe52246_0_134"/>
          <p:cNvSpPr txBox="1"/>
          <p:nvPr/>
        </p:nvSpPr>
        <p:spPr>
          <a:xfrm>
            <a:off x="3487175" y="3651225"/>
            <a:ext cx="91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내일은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g3f22fe52246_0_134"/>
          <p:cNvCxnSpPr>
            <a:stCxn id="176" idx="3"/>
            <a:endCxn id="182" idx="1"/>
          </p:cNvCxnSpPr>
          <p:nvPr/>
        </p:nvCxnSpPr>
        <p:spPr>
          <a:xfrm flipH="1" rot="10800000">
            <a:off x="3211775" y="3451075"/>
            <a:ext cx="275400" cy="17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g3f22fe52246_0_134"/>
          <p:cNvCxnSpPr>
            <a:stCxn id="176" idx="3"/>
            <a:endCxn id="183" idx="1"/>
          </p:cNvCxnSpPr>
          <p:nvPr/>
        </p:nvCxnSpPr>
        <p:spPr>
          <a:xfrm>
            <a:off x="3211775" y="3630175"/>
            <a:ext cx="275400" cy="22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" name="Google Shape;186;g3f22fe52246_0_134"/>
          <p:cNvSpPr txBox="1"/>
          <p:nvPr/>
        </p:nvSpPr>
        <p:spPr>
          <a:xfrm>
            <a:off x="787175" y="2334200"/>
            <a:ext cx="337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오늘의 날씨는 </a:t>
            </a: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맑을 것으로 예상됩니다.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g3f22fe52246_0_134"/>
          <p:cNvCxnSpPr>
            <a:stCxn id="186" idx="2"/>
          </p:cNvCxnSpPr>
          <p:nvPr/>
        </p:nvCxnSpPr>
        <p:spPr>
          <a:xfrm>
            <a:off x="2475725" y="2734400"/>
            <a:ext cx="0" cy="6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" name="Google Shape;188;g3f22fe52246_0_134"/>
          <p:cNvSpPr txBox="1"/>
          <p:nvPr/>
        </p:nvSpPr>
        <p:spPr>
          <a:xfrm>
            <a:off x="5035325" y="2334200"/>
            <a:ext cx="337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오늘의 날씨는 맑을 것으로 예상됩니다.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f22fe52246_0_134"/>
          <p:cNvSpPr txBox="1"/>
          <p:nvPr/>
        </p:nvSpPr>
        <p:spPr>
          <a:xfrm>
            <a:off x="4998575" y="3335050"/>
            <a:ext cx="345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오늘의 </a:t>
            </a:r>
            <a:r>
              <a:rPr lang="en-US">
                <a:solidFill>
                  <a:schemeClr val="accent2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[MASK]</a:t>
            </a: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는 맑을 것으로 </a:t>
            </a:r>
            <a:r>
              <a:rPr lang="en-US">
                <a:solidFill>
                  <a:schemeClr val="accent2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[MASK]</a:t>
            </a: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됩니다.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g3f22fe52246_0_134"/>
          <p:cNvCxnSpPr>
            <a:stCxn id="188" idx="2"/>
            <a:endCxn id="189" idx="0"/>
          </p:cNvCxnSpPr>
          <p:nvPr/>
        </p:nvCxnSpPr>
        <p:spPr>
          <a:xfrm>
            <a:off x="6723875" y="2734400"/>
            <a:ext cx="0" cy="60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22fe52246_0_22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f22fe52246_0_22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f22fe52246_0_22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f22fe52246_0_22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f22fe52246_0_22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f22fe52246_0_220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미세 조정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f22fe52246_0_220"/>
          <p:cNvSpPr txBox="1"/>
          <p:nvPr/>
        </p:nvSpPr>
        <p:spPr>
          <a:xfrm>
            <a:off x="787175" y="1668438"/>
            <a:ext cx="752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사전학습된 모델을 원하는 task에 특화되도록 유도하는 작업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f22fe52246_0_220"/>
          <p:cNvSpPr/>
          <p:nvPr/>
        </p:nvSpPr>
        <p:spPr>
          <a:xfrm>
            <a:off x="787175" y="2133325"/>
            <a:ext cx="3377100" cy="306900"/>
          </a:xfrm>
          <a:prstGeom prst="roundRect">
            <a:avLst>
              <a:gd fmla="val 16667" name="adj"/>
            </a:avLst>
          </a:prstGeom>
          <a:solidFill>
            <a:srgbClr val="1A3A5C"/>
          </a:solidFill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f22fe52246_0_220"/>
          <p:cNvSpPr/>
          <p:nvPr/>
        </p:nvSpPr>
        <p:spPr>
          <a:xfrm>
            <a:off x="5035325" y="2133325"/>
            <a:ext cx="3377100" cy="306900"/>
          </a:xfrm>
          <a:prstGeom prst="roundRect">
            <a:avLst>
              <a:gd fmla="val 16667" name="adj"/>
            </a:avLst>
          </a:prstGeom>
          <a:solidFill>
            <a:srgbClr val="1A3A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BERT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f22fe52246_0_220"/>
          <p:cNvSpPr/>
          <p:nvPr/>
        </p:nvSpPr>
        <p:spPr>
          <a:xfrm>
            <a:off x="787175" y="2538050"/>
            <a:ext cx="3377100" cy="2342400"/>
          </a:xfrm>
          <a:prstGeom prst="roundRect">
            <a:avLst>
              <a:gd fmla="val 10001" name="adj"/>
            </a:avLst>
          </a:prstGeom>
          <a:solidFill>
            <a:srgbClr val="D8DDE6"/>
          </a:solidFill>
          <a:ln cap="flat" cmpd="sng" w="9525">
            <a:solidFill>
              <a:srgbClr val="EBE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f22fe52246_0_220"/>
          <p:cNvSpPr/>
          <p:nvPr/>
        </p:nvSpPr>
        <p:spPr>
          <a:xfrm>
            <a:off x="5035325" y="2538050"/>
            <a:ext cx="3377100" cy="2342400"/>
          </a:xfrm>
          <a:prstGeom prst="roundRect">
            <a:avLst>
              <a:gd fmla="val 9465" name="adj"/>
            </a:avLst>
          </a:prstGeom>
          <a:solidFill>
            <a:srgbClr val="D8DDE6"/>
          </a:solidFill>
          <a:ln cap="flat" cmpd="sng" w="9525">
            <a:solidFill>
              <a:srgbClr val="EBE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f22fe52246_0_220"/>
          <p:cNvSpPr txBox="1"/>
          <p:nvPr/>
        </p:nvSpPr>
        <p:spPr>
          <a:xfrm>
            <a:off x="787175" y="2538050"/>
            <a:ext cx="3377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입력</a:t>
            </a: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: 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FFT 변환을 수행하는 파이썬 코드를 작성해줘.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출력</a:t>
            </a: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: 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네, 다음은 입력된 신호에 FFT 변환을 적용하는 파이썬 코드입니다.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import numpy as np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…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f22fe52246_0_220"/>
          <p:cNvSpPr txBox="1"/>
          <p:nvPr/>
        </p:nvSpPr>
        <p:spPr>
          <a:xfrm>
            <a:off x="5215025" y="3914400"/>
            <a:ext cx="2200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와 오늘 편의점 신메뉴 먹어봤는데 이거 진짜 레전드임 왜 이제 나온 거임?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f22fe52246_0_220"/>
          <p:cNvSpPr txBox="1"/>
          <p:nvPr/>
        </p:nvSpPr>
        <p:spPr>
          <a:xfrm>
            <a:off x="7691975" y="4103700"/>
            <a:ext cx="61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>
                <a:solidFill>
                  <a:srgbClr val="1F1F1F"/>
                </a:solidFill>
                <a:highlight>
                  <a:srgbClr val="FFFFFF"/>
                </a:highlight>
              </a:rPr>
              <a:t>긍정</a:t>
            </a:r>
            <a:endParaRPr sz="1700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g3f22fe52246_0_220"/>
          <p:cNvCxnSpPr>
            <a:stCxn id="207" idx="3"/>
            <a:endCxn id="208" idx="1"/>
          </p:cNvCxnSpPr>
          <p:nvPr/>
        </p:nvCxnSpPr>
        <p:spPr>
          <a:xfrm>
            <a:off x="7415225" y="4311450"/>
            <a:ext cx="27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g3f22fe52246_0_220"/>
          <p:cNvSpPr txBox="1"/>
          <p:nvPr/>
        </p:nvSpPr>
        <p:spPr>
          <a:xfrm>
            <a:off x="5215025" y="2780275"/>
            <a:ext cx="29718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와 오늘 </a:t>
            </a:r>
            <a:r>
              <a:rPr lang="en-US" sz="1200">
                <a:solidFill>
                  <a:schemeClr val="accent2"/>
                </a:solidFill>
                <a:highlight>
                  <a:srgbClr val="FFFFFF"/>
                </a:highlight>
              </a:rPr>
              <a:t>[MASK] </a:t>
            </a: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신메뉴 먹어봤는데 이거 진짜 </a:t>
            </a:r>
            <a:r>
              <a:rPr lang="en-US" sz="1200">
                <a:solidFill>
                  <a:schemeClr val="accent2"/>
                </a:solidFill>
                <a:highlight>
                  <a:srgbClr val="FFFFFF"/>
                </a:highlight>
              </a:rPr>
              <a:t>[MASK]</a:t>
            </a: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임 왜 이제 나온 거임?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22fe52246_0_16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f22fe52246_0_169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f22fe52246_0_169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f22fe52246_0_169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f22fe52246_0_169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f22fe52246_0_169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미세 조정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f22fe52246_0_169"/>
          <p:cNvSpPr txBox="1"/>
          <p:nvPr/>
        </p:nvSpPr>
        <p:spPr>
          <a:xfrm>
            <a:off x="828900" y="2707925"/>
            <a:ext cx="748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BERT 모델 이용해서 텍스트 분류 학습해보기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2a70976d9_0_11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f2a70976d9_0_11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f2a70976d9_0_11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f2a70976d9_0_11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f2a70976d9_0_11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2a70976d9_0_112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f2a70976d9_0_112"/>
          <p:cNvSpPr/>
          <p:nvPr/>
        </p:nvSpPr>
        <p:spPr>
          <a:xfrm>
            <a:off x="724663" y="192380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 수집/전처리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f2a70976d9_0_112"/>
          <p:cNvSpPr/>
          <p:nvPr/>
        </p:nvSpPr>
        <p:spPr>
          <a:xfrm>
            <a:off x="2862838" y="192380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 준비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f2a70976d9_0_112"/>
          <p:cNvSpPr/>
          <p:nvPr/>
        </p:nvSpPr>
        <p:spPr>
          <a:xfrm>
            <a:off x="5001013" y="192380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f2a70976d9_0_112"/>
          <p:cNvSpPr/>
          <p:nvPr/>
        </p:nvSpPr>
        <p:spPr>
          <a:xfrm>
            <a:off x="7139188" y="192380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평가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g3f2a70976d9_0_112"/>
          <p:cNvCxnSpPr>
            <a:stCxn id="232" idx="3"/>
            <a:endCxn id="233" idx="1"/>
          </p:cNvCxnSpPr>
          <p:nvPr/>
        </p:nvCxnSpPr>
        <p:spPr>
          <a:xfrm>
            <a:off x="2004763" y="2108450"/>
            <a:ext cx="85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g3f2a70976d9_0_112"/>
          <p:cNvCxnSpPr>
            <a:endCxn id="234" idx="1"/>
          </p:cNvCxnSpPr>
          <p:nvPr/>
        </p:nvCxnSpPr>
        <p:spPr>
          <a:xfrm>
            <a:off x="4179913" y="2096450"/>
            <a:ext cx="821100" cy="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g3f2a70976d9_0_112"/>
          <p:cNvCxnSpPr>
            <a:stCxn id="234" idx="3"/>
            <a:endCxn id="235" idx="1"/>
          </p:cNvCxnSpPr>
          <p:nvPr/>
        </p:nvCxnSpPr>
        <p:spPr>
          <a:xfrm>
            <a:off x="6281113" y="2108450"/>
            <a:ext cx="85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9" name="Google Shape;239;g3f2a70976d9_0_112"/>
          <p:cNvSpPr/>
          <p:nvPr/>
        </p:nvSpPr>
        <p:spPr>
          <a:xfrm>
            <a:off x="724675" y="2538950"/>
            <a:ext cx="1280100" cy="212670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학습에 사용할 데이터를 수집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텍스트 데이터를 AI가 컴퓨터가 이해할 수 있는 형태로 가공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불필요한 데이터나 민감한 데이터를 필터링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f2a70976d9_0_112"/>
          <p:cNvSpPr/>
          <p:nvPr/>
        </p:nvSpPr>
        <p:spPr>
          <a:xfrm>
            <a:off x="2862850" y="2538950"/>
            <a:ext cx="1280100" cy="212670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해결하고자 하는 문제에 가장 어울리는 모델을 탐색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f2a70976d9_0_112"/>
          <p:cNvSpPr/>
          <p:nvPr/>
        </p:nvSpPr>
        <p:spPr>
          <a:xfrm>
            <a:off x="5001025" y="2538950"/>
            <a:ext cx="1280100" cy="212670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준비한 데이터와 모델을 이용해 학습 수행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f2a70976d9_0_112"/>
          <p:cNvSpPr/>
          <p:nvPr/>
        </p:nvSpPr>
        <p:spPr>
          <a:xfrm>
            <a:off x="7139200" y="2538950"/>
            <a:ext cx="1280100" cy="212670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모델의 성능을 다방면으로 평가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성능이 나오지 않았을 경우 원인을 분석 후 재학습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22fe52246_0_36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22fe52246_0_36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f22fe52246_0_36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f22fe52246_0_36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f22fe52246_0_36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f22fe52246_0_36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데이터 전처리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f22fe52246_0_365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텍스트를 AI 모델이 이해할 수 있는 형태로 변환하는 작업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f22fe52246_0_365"/>
          <p:cNvSpPr/>
          <p:nvPr/>
        </p:nvSpPr>
        <p:spPr>
          <a:xfrm>
            <a:off x="4796688" y="265280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토큰화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f22fe52246_0_365"/>
          <p:cNvSpPr/>
          <p:nvPr/>
        </p:nvSpPr>
        <p:spPr>
          <a:xfrm>
            <a:off x="1452325" y="346765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특수 토큰 추가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f22fe52246_0_365"/>
          <p:cNvSpPr/>
          <p:nvPr/>
        </p:nvSpPr>
        <p:spPr>
          <a:xfrm>
            <a:off x="3931950" y="346765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길이 제한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f22fe52246_0_365"/>
          <p:cNvSpPr/>
          <p:nvPr/>
        </p:nvSpPr>
        <p:spPr>
          <a:xfrm>
            <a:off x="6411575" y="346765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입력 형식 맞추기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f22fe52246_0_365"/>
          <p:cNvSpPr/>
          <p:nvPr/>
        </p:nvSpPr>
        <p:spPr>
          <a:xfrm>
            <a:off x="2564113" y="265280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텍스트 전처리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g3f22fe52246_0_365"/>
          <p:cNvCxnSpPr>
            <a:stCxn id="258" idx="3"/>
            <a:endCxn id="254" idx="1"/>
          </p:cNvCxnSpPr>
          <p:nvPr/>
        </p:nvCxnSpPr>
        <p:spPr>
          <a:xfrm>
            <a:off x="3844213" y="2837450"/>
            <a:ext cx="95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g3f22fe52246_0_365"/>
          <p:cNvCxnSpPr>
            <a:stCxn id="254" idx="3"/>
          </p:cNvCxnSpPr>
          <p:nvPr/>
        </p:nvCxnSpPr>
        <p:spPr>
          <a:xfrm>
            <a:off x="6076788" y="2837450"/>
            <a:ext cx="50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" name="Google Shape;261;g3f22fe52246_0_365"/>
          <p:cNvCxnSpPr>
            <a:stCxn id="255" idx="3"/>
            <a:endCxn id="256" idx="1"/>
          </p:cNvCxnSpPr>
          <p:nvPr/>
        </p:nvCxnSpPr>
        <p:spPr>
          <a:xfrm>
            <a:off x="2732425" y="3652300"/>
            <a:ext cx="11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" name="Google Shape;262;g3f22fe52246_0_365"/>
          <p:cNvCxnSpPr>
            <a:stCxn id="256" idx="3"/>
            <a:endCxn id="257" idx="1"/>
          </p:cNvCxnSpPr>
          <p:nvPr/>
        </p:nvCxnSpPr>
        <p:spPr>
          <a:xfrm>
            <a:off x="5212050" y="3652300"/>
            <a:ext cx="11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22fe52246_0_38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f22fe52246_0_38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f22fe52246_0_38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f22fe52246_0_387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f22fe52246_0_38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f22fe52246_0_38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데이터 전처리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f22fe52246_0_387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텍스트 전처리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f22fe52246_0_387"/>
          <p:cNvSpPr txBox="1"/>
          <p:nvPr/>
        </p:nvSpPr>
        <p:spPr>
          <a:xfrm>
            <a:off x="876150" y="2307300"/>
            <a:ext cx="7391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다중 공백 제거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불필요한 특수 문자 제거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개인 정보, 혐오 발언 등 필터링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f22fe52246_0_387"/>
          <p:cNvSpPr/>
          <p:nvPr/>
        </p:nvSpPr>
        <p:spPr>
          <a:xfrm>
            <a:off x="4387125" y="1839250"/>
            <a:ext cx="4164300" cy="79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"안녕하세요 만나서 반갑습니다.!!! @#$ 제 이름은 홍길동이고 전화번호는 010-1234-5678입니다. 그나저나 요즘 XX(혐오 발언)들 진짜 꼴 보기 싫지 않나요?ㅋㅋㅋ "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f22fe52246_0_387"/>
          <p:cNvSpPr txBox="1"/>
          <p:nvPr/>
        </p:nvSpPr>
        <p:spPr>
          <a:xfrm>
            <a:off x="1433175" y="2723025"/>
            <a:ext cx="458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컴퓨터는 공백 하나하나를 모두 단어로 인식 &gt; 불필요한 정보가 될 수 있음.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f22fe52246_0_387"/>
          <p:cNvSpPr txBox="1"/>
          <p:nvPr/>
        </p:nvSpPr>
        <p:spPr>
          <a:xfrm>
            <a:off x="1433175" y="3686425"/>
            <a:ext cx="458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컴퓨터는 “안녕하세요”와 “안.녕$%하세요” 를 다른 단어로 인식함.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f22fe52246_0_387"/>
          <p:cNvSpPr txBox="1"/>
          <p:nvPr/>
        </p:nvSpPr>
        <p:spPr>
          <a:xfrm>
            <a:off x="1433175" y="4578175"/>
            <a:ext cx="458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학습된 언어 모델이 누군가의 개인 정보를 누설하거나 혐오 발언을 하면 문제가 됨.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22fe52246_0_40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f22fe52246_0_40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f22fe52246_0_40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f22fe52246_0_407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f22fe52246_0_40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f22fe52246_0_40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데이터 전처리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f22fe52246_0_407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2. 토큰화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f22fe52246_0_407"/>
          <p:cNvSpPr txBox="1"/>
          <p:nvPr/>
        </p:nvSpPr>
        <p:spPr>
          <a:xfrm>
            <a:off x="876150" y="2223125"/>
            <a:ext cx="7391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토크나이저란?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텍스트를 일정 단위로 분리하여 숫자로 변환하는 역할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컴퓨터는 숫자만 이해할 수 있다!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어떤 단위로 자를까?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f22fe52246_0_407"/>
          <p:cNvSpPr/>
          <p:nvPr/>
        </p:nvSpPr>
        <p:spPr>
          <a:xfrm>
            <a:off x="944625" y="4124875"/>
            <a:ext cx="354300" cy="432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22fe52246_0_407"/>
          <p:cNvSpPr/>
          <p:nvPr/>
        </p:nvSpPr>
        <p:spPr>
          <a:xfrm>
            <a:off x="1582275" y="4124875"/>
            <a:ext cx="598200" cy="432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Love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f22fe52246_0_407"/>
          <p:cNvSpPr/>
          <p:nvPr/>
        </p:nvSpPr>
        <p:spPr>
          <a:xfrm>
            <a:off x="2463825" y="4124875"/>
            <a:ext cx="779400" cy="432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Coffee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f22fe52246_0_407"/>
          <p:cNvSpPr/>
          <p:nvPr/>
        </p:nvSpPr>
        <p:spPr>
          <a:xfrm>
            <a:off x="3822838" y="4124875"/>
            <a:ext cx="341100" cy="432900"/>
          </a:xfrm>
          <a:prstGeom prst="roundRect">
            <a:avLst>
              <a:gd fmla="val 37453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f22fe52246_0_407"/>
          <p:cNvSpPr/>
          <p:nvPr/>
        </p:nvSpPr>
        <p:spPr>
          <a:xfrm>
            <a:off x="4208563" y="4124875"/>
            <a:ext cx="341100" cy="432900"/>
          </a:xfrm>
          <a:prstGeom prst="roundRect">
            <a:avLst>
              <a:gd fmla="val 37453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f22fe52246_0_407"/>
          <p:cNvSpPr/>
          <p:nvPr/>
        </p:nvSpPr>
        <p:spPr>
          <a:xfrm>
            <a:off x="4594288" y="4124875"/>
            <a:ext cx="341100" cy="432900"/>
          </a:xfrm>
          <a:prstGeom prst="roundRect">
            <a:avLst>
              <a:gd fmla="val 37453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f22fe52246_0_407"/>
          <p:cNvSpPr/>
          <p:nvPr/>
        </p:nvSpPr>
        <p:spPr>
          <a:xfrm>
            <a:off x="4980013" y="4124875"/>
            <a:ext cx="341100" cy="432900"/>
          </a:xfrm>
          <a:prstGeom prst="roundRect">
            <a:avLst>
              <a:gd fmla="val 37453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f22fe52246_0_407"/>
          <p:cNvSpPr/>
          <p:nvPr/>
        </p:nvSpPr>
        <p:spPr>
          <a:xfrm>
            <a:off x="5941875" y="4124875"/>
            <a:ext cx="543600" cy="432900"/>
          </a:xfrm>
          <a:prstGeom prst="roundRect">
            <a:avLst>
              <a:gd fmla="val 37453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f22fe52246_0_407"/>
          <p:cNvSpPr/>
          <p:nvPr/>
        </p:nvSpPr>
        <p:spPr>
          <a:xfrm>
            <a:off x="6613887" y="4124875"/>
            <a:ext cx="969300" cy="432900"/>
          </a:xfrm>
          <a:prstGeom prst="roundRect">
            <a:avLst>
              <a:gd fmla="val 37453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##afford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f22fe52246_0_407"/>
          <p:cNvSpPr/>
          <p:nvPr/>
        </p:nvSpPr>
        <p:spPr>
          <a:xfrm>
            <a:off x="7711600" y="4124875"/>
            <a:ext cx="779400" cy="432900"/>
          </a:xfrm>
          <a:prstGeom prst="roundRect">
            <a:avLst>
              <a:gd fmla="val 37453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##able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22fe52246_0_407"/>
          <p:cNvSpPr/>
          <p:nvPr/>
        </p:nvSpPr>
        <p:spPr>
          <a:xfrm>
            <a:off x="1464175" y="3731275"/>
            <a:ext cx="1280100" cy="236100"/>
          </a:xfrm>
          <a:prstGeom prst="roundRect">
            <a:avLst>
              <a:gd fmla="val 16667" name="adj"/>
            </a:avLst>
          </a:prstGeom>
          <a:solidFill>
            <a:srgbClr val="E8402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단어 단위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f22fe52246_0_407"/>
          <p:cNvSpPr/>
          <p:nvPr/>
        </p:nvSpPr>
        <p:spPr>
          <a:xfrm>
            <a:off x="3931950" y="3731275"/>
            <a:ext cx="1280100" cy="236100"/>
          </a:xfrm>
          <a:prstGeom prst="roundRect">
            <a:avLst>
              <a:gd fmla="val 16667" name="adj"/>
            </a:avLst>
          </a:prstGeom>
          <a:solidFill>
            <a:srgbClr val="E8402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글자 </a:t>
            </a: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단위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f22fe52246_0_407"/>
          <p:cNvSpPr/>
          <p:nvPr/>
        </p:nvSpPr>
        <p:spPr>
          <a:xfrm>
            <a:off x="6543025" y="3731275"/>
            <a:ext cx="1280100" cy="236100"/>
          </a:xfrm>
          <a:prstGeom prst="roundRect">
            <a:avLst>
              <a:gd fmla="val 16667" name="adj"/>
            </a:avLst>
          </a:prstGeom>
          <a:solidFill>
            <a:srgbClr val="E8402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서브워드 단위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g3f22fe52246_0_407"/>
          <p:cNvCxnSpPr/>
          <p:nvPr/>
        </p:nvCxnSpPr>
        <p:spPr>
          <a:xfrm>
            <a:off x="3495125" y="3660425"/>
            <a:ext cx="0" cy="117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g3f22fe52246_0_407"/>
          <p:cNvCxnSpPr/>
          <p:nvPr/>
        </p:nvCxnSpPr>
        <p:spPr>
          <a:xfrm>
            <a:off x="5636275" y="3660425"/>
            <a:ext cx="0" cy="117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22fe52246_0_43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f22fe52246_0_43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f22fe52246_0_43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f22fe52246_0_43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f22fe52246_0_43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f22fe52246_0_43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데이터 전처리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f22fe52246_0_435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2. 토큰화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f22fe52246_0_435"/>
          <p:cNvSpPr txBox="1"/>
          <p:nvPr/>
        </p:nvSpPr>
        <p:spPr>
          <a:xfrm>
            <a:off x="876150" y="2307300"/>
            <a:ext cx="32802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토크나이저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가 만들어지는 방법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대규모 텍스트 수집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자주 붙어 나오는 글자 조합 탐색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어휘 사전(Vocabulary) 완성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각 토큰에 번호 부여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f22fe52246_0_435"/>
          <p:cNvSpPr/>
          <p:nvPr/>
        </p:nvSpPr>
        <p:spPr>
          <a:xfrm>
            <a:off x="6165750" y="2395700"/>
            <a:ext cx="2102100" cy="1755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: [PAD]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: [UNK]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: [CLS]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: [SEP]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: [MASK]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: “a”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: “the”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: “boy”</a:t>
            </a: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: “###ing”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22fe52246_0_46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f22fe52246_0_461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f22fe52246_0_461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f22fe52246_0_461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f22fe52246_0_461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f22fe52246_0_461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데이터 전처리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22fe52246_0_461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3. 특수 토큰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f22fe52246_0_461"/>
          <p:cNvSpPr txBox="1"/>
          <p:nvPr/>
        </p:nvSpPr>
        <p:spPr>
          <a:xfrm>
            <a:off x="876150" y="2307300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BERT에 사용되는 특수 토큰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f22fe52246_0_461"/>
          <p:cNvSpPr txBox="1"/>
          <p:nvPr/>
        </p:nvSpPr>
        <p:spPr>
          <a:xfrm>
            <a:off x="1023350" y="2707500"/>
            <a:ext cx="72444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[CLS] : 문장의 시작을 알리는 특수 토큰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[PAD] : 문장의 길이를 맞추기 위한 빈 칸 토큰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[SEP] : 문장의 끝, 또는 문장 사이를 구분하기 위한 특수 토큰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[UNK] : 어휘 사전에서 찾을 수 없는 글자를 나타내는 특수 토큰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22fe52246_0_47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f22fe52246_0_47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f22fe52246_0_47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f22fe52246_0_47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f22fe52246_0_47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f22fe52246_0_47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데이터 전처리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f22fe52246_0_473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4. 길이 맞추기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f22fe52246_0_473"/>
          <p:cNvSpPr txBox="1"/>
          <p:nvPr/>
        </p:nvSpPr>
        <p:spPr>
          <a:xfrm>
            <a:off x="876150" y="2307300"/>
            <a:ext cx="7391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AI 모델은 일정한 길이의 입력만 받을 수 있음!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대규모의 데이터를 빠르게 학습하기 위해 데이터를 ‘배치(batch)’ 단위로 구성하여 학습해야 함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같은 배치 내의 텍스트의 길이가 전부 다르면 모델이 계산을 수행할 수 없다.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따라서 짧은 문장은 ‘[PAD]’ 토큰을 추가하여, 긴 문장은 뒷 부분을 자르는 식으로 길이를 맞춤.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22fe52246_0_48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f22fe52246_0_48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f22fe52246_0_48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f22fe52246_0_48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f22fe52246_0_48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f22fe52246_0_48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데이터 전처리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f22fe52246_0_485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5. BERT의 형식에 맞춰 데이터를 변환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f22fe52246_0_485"/>
          <p:cNvSpPr txBox="1"/>
          <p:nvPr/>
        </p:nvSpPr>
        <p:spPr>
          <a:xfrm>
            <a:off x="876150" y="2307300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BERT가 사전학습에 사용했던 형태를 따라 입력 데이터를 변환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f22fe52246_0_485"/>
          <p:cNvSpPr txBox="1"/>
          <p:nvPr/>
        </p:nvSpPr>
        <p:spPr>
          <a:xfrm>
            <a:off x="760950" y="3089050"/>
            <a:ext cx="21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“안녕하세요, 반갑습니다.”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f22fe52246_0_485"/>
          <p:cNvSpPr txBox="1"/>
          <p:nvPr/>
        </p:nvSpPr>
        <p:spPr>
          <a:xfrm>
            <a:off x="3110250" y="2996650"/>
            <a:ext cx="254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“[CLS] 안녕하세요, 반갑습니다. [SEP] [PAD]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[PAD] [PAD]”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f22fe52246_0_485"/>
          <p:cNvSpPr txBox="1"/>
          <p:nvPr/>
        </p:nvSpPr>
        <p:spPr>
          <a:xfrm>
            <a:off x="5898150" y="3089050"/>
            <a:ext cx="248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[101, 1045, 2293, 573, 102, 0, 0, 0]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" name="Google Shape;359;g3f22fe52246_0_485"/>
          <p:cNvCxnSpPr>
            <a:stCxn id="356" idx="3"/>
            <a:endCxn id="357" idx="1"/>
          </p:cNvCxnSpPr>
          <p:nvPr/>
        </p:nvCxnSpPr>
        <p:spPr>
          <a:xfrm>
            <a:off x="2862750" y="3273700"/>
            <a:ext cx="24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0" name="Google Shape;360;g3f22fe52246_0_485"/>
          <p:cNvCxnSpPr>
            <a:stCxn id="357" idx="3"/>
            <a:endCxn id="358" idx="1"/>
          </p:cNvCxnSpPr>
          <p:nvPr/>
        </p:nvCxnSpPr>
        <p:spPr>
          <a:xfrm>
            <a:off x="5650650" y="3273700"/>
            <a:ext cx="24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f275b9f5c3_0_4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f275b9f5c3_0_48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f275b9f5c3_0_48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f275b9f5c3_0_48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f275b9f5c3_0_48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f275b9f5c3_0_48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위한 모델 준비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f275b9f5c3_0_48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BERT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f275b9f5c3_0_48"/>
          <p:cNvSpPr txBox="1"/>
          <p:nvPr/>
        </p:nvSpPr>
        <p:spPr>
          <a:xfrm>
            <a:off x="876150" y="2213750"/>
            <a:ext cx="50982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BERT는 Transformer의 인코더 부분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BERT가 출력한 벡터가 이미 텍스트에 대한 ai 특유의 이해도를 갖고 있다고 가정하는 것.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뒤에 분류 레이어만 하나 추가해서 우리가 원하는 분류 결과를 얻는 것.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g3f275b9f5c3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350" y="1563372"/>
            <a:ext cx="2575126" cy="29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275b9f5c3_0_6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f275b9f5c3_0_6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f275b9f5c3_0_6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f275b9f5c3_0_6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f275b9f5c3_0_6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f275b9f5c3_0_6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결과 테스트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f275b9f5c3_0_66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평가지표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f275b9f5c3_0_66"/>
          <p:cNvSpPr txBox="1"/>
          <p:nvPr/>
        </p:nvSpPr>
        <p:spPr>
          <a:xfrm>
            <a:off x="876150" y="2213750"/>
            <a:ext cx="47445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Accuracy : 모델이 전체 데이터를 얼마나 올바르게 분류했는지 평가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F1 Score : 주어진 라벨의 비율을 고려했을 때 얼마나 잘 분류했는지 평가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Confusion matrix : 모델이 각 라벨을 얼마나 잘 맞췄는지 시각적으로 확인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6" name="Google Shape;386;g3f275b9f5c3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5750" y="1252300"/>
            <a:ext cx="1813017" cy="171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g3f275b9f5c3_0_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5750" y="3201300"/>
            <a:ext cx="1813025" cy="1519247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f22fe52246_0_35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f22fe52246_0_35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f22fe52246_0_35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f22fe52246_0_35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f22fe52246_0_35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f22fe52246_0_352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Huggingface란?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8" name="Google Shape;398;g3f22fe52246_0_3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5525" y="1783125"/>
            <a:ext cx="4152900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3f22fe52246_0_352"/>
          <p:cNvSpPr txBox="1"/>
          <p:nvPr/>
        </p:nvSpPr>
        <p:spPr>
          <a:xfrm>
            <a:off x="876150" y="3156625"/>
            <a:ext cx="7391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"머신러닝계의 GitHub" — AI 모델·데이터셋·데모를 누구나 공유하는 오픈소스 플랫폼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240만 개 이상의 사전학습 모델을 단 몇 줄 코드로 바로 불러와 사용 가능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텍스트 생성, 이미지 분류, 번역 등 다양한 AI 태스크를 손쉽게 구현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학습·파인튜닝·배포까지 AI 개발 전 과정을 하나의 생태계에서 지원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279b47e8f_0_0"/>
          <p:cNvSpPr/>
          <p:nvPr/>
        </p:nvSpPr>
        <p:spPr>
          <a:xfrm>
            <a:off x="0" y="0"/>
            <a:ext cx="7667100" cy="5143500"/>
          </a:xfrm>
          <a:prstGeom prst="roundRect">
            <a:avLst>
              <a:gd fmla="val 1871" name="adj"/>
            </a:avLst>
          </a:prstGeom>
          <a:solidFill>
            <a:srgbClr val="E8402A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f279b47e8f_0_0"/>
          <p:cNvSpPr/>
          <p:nvPr/>
        </p:nvSpPr>
        <p:spPr>
          <a:xfrm>
            <a:off x="0" y="0"/>
            <a:ext cx="6376200" cy="51435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f279b47e8f_0_0"/>
          <p:cNvSpPr txBox="1"/>
          <p:nvPr/>
        </p:nvSpPr>
        <p:spPr>
          <a:xfrm>
            <a:off x="621875" y="2117550"/>
            <a:ext cx="5363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Calibri"/>
                <a:ea typeface="Calibri"/>
                <a:cs typeface="Calibri"/>
                <a:sym typeface="Calibri"/>
              </a:rPr>
              <a:t>2. Text Generate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279b47e8f_0_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f279b47e8f_0_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f279b47e8f_0_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f279b47e8f_0_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3f279b47e8f_0_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f279b47e8f_0_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Pre-training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f279b47e8f_0_6"/>
          <p:cNvSpPr txBox="1"/>
          <p:nvPr/>
        </p:nvSpPr>
        <p:spPr>
          <a:xfrm>
            <a:off x="876150" y="1857275"/>
            <a:ext cx="7536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텍스트 생성 AI는 Transformer의 디코더 구조(GPT)를 사용합니다.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GPT의 사전학습은 구체적으로 어떻게 이뤄질까?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f279b47e8f_0_1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f279b47e8f_0_1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f279b47e8f_0_1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f279b47e8f_0_17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f279b47e8f_0_1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f279b47e8f_0_1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Pre-training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f279b47e8f_0_17"/>
          <p:cNvSpPr txBox="1"/>
          <p:nvPr/>
        </p:nvSpPr>
        <p:spPr>
          <a:xfrm>
            <a:off x="876150" y="1653550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Next Token Prediction : 앞의 토큰을 보고 그 뒤에 올 Token을 예측하는 식으로 학습된다.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f279b47e8f_0_17"/>
          <p:cNvSpPr txBox="1"/>
          <p:nvPr/>
        </p:nvSpPr>
        <p:spPr>
          <a:xfrm>
            <a:off x="4573650" y="2366800"/>
            <a:ext cx="254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 / 날씨 / 는 / 맑 / 을 / 예정 / 입 / 니다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f279b47e8f_0_17"/>
          <p:cNvSpPr/>
          <p:nvPr/>
        </p:nvSpPr>
        <p:spPr>
          <a:xfrm>
            <a:off x="1269638" y="3531250"/>
            <a:ext cx="1366500" cy="5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g3f279b47e8f_0_17"/>
          <p:cNvSpPr txBox="1"/>
          <p:nvPr/>
        </p:nvSpPr>
        <p:spPr>
          <a:xfrm>
            <a:off x="1660988" y="4282425"/>
            <a:ext cx="58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3f279b47e8f_0_17"/>
          <p:cNvSpPr txBox="1"/>
          <p:nvPr/>
        </p:nvSpPr>
        <p:spPr>
          <a:xfrm>
            <a:off x="1542638" y="3018575"/>
            <a:ext cx="82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날씨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3" name="Google Shape;433;g3f279b47e8f_0_17"/>
          <p:cNvCxnSpPr>
            <a:stCxn id="431" idx="0"/>
            <a:endCxn id="430" idx="2"/>
          </p:cNvCxnSpPr>
          <p:nvPr/>
        </p:nvCxnSpPr>
        <p:spPr>
          <a:xfrm rot="10800000">
            <a:off x="1952888" y="4108425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4" name="Google Shape;434;g3f279b47e8f_0_17"/>
          <p:cNvCxnSpPr>
            <a:stCxn id="430" idx="0"/>
            <a:endCxn id="432" idx="2"/>
          </p:cNvCxnSpPr>
          <p:nvPr/>
        </p:nvCxnSpPr>
        <p:spPr>
          <a:xfrm rot="10800000">
            <a:off x="1952888" y="3357250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5" name="Google Shape;435;g3f279b47e8f_0_17"/>
          <p:cNvSpPr/>
          <p:nvPr/>
        </p:nvSpPr>
        <p:spPr>
          <a:xfrm>
            <a:off x="3043563" y="3531250"/>
            <a:ext cx="1366500" cy="5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f279b47e8f_0_17"/>
          <p:cNvSpPr txBox="1"/>
          <p:nvPr/>
        </p:nvSpPr>
        <p:spPr>
          <a:xfrm>
            <a:off x="3261363" y="4282425"/>
            <a:ext cx="93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 / 날씨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3f279b47e8f_0_17"/>
          <p:cNvSpPr txBox="1"/>
          <p:nvPr/>
        </p:nvSpPr>
        <p:spPr>
          <a:xfrm>
            <a:off x="3104613" y="3018575"/>
            <a:ext cx="124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는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8" name="Google Shape;438;g3f279b47e8f_0_17"/>
          <p:cNvCxnSpPr>
            <a:stCxn id="436" idx="0"/>
            <a:endCxn id="435" idx="2"/>
          </p:cNvCxnSpPr>
          <p:nvPr/>
        </p:nvCxnSpPr>
        <p:spPr>
          <a:xfrm rot="10800000">
            <a:off x="3726813" y="4108425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" name="Google Shape;439;g3f279b47e8f_0_17"/>
          <p:cNvCxnSpPr>
            <a:stCxn id="435" idx="0"/>
            <a:endCxn id="437" idx="2"/>
          </p:cNvCxnSpPr>
          <p:nvPr/>
        </p:nvCxnSpPr>
        <p:spPr>
          <a:xfrm rot="10800000">
            <a:off x="3726813" y="3357250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0" name="Google Shape;440;g3f279b47e8f_0_17"/>
          <p:cNvSpPr txBox="1"/>
          <p:nvPr/>
        </p:nvSpPr>
        <p:spPr>
          <a:xfrm>
            <a:off x="2171550" y="2366800"/>
            <a:ext cx="18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오늘 날씨는 맑을 예정입니다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1" name="Google Shape;441;g3f279b47e8f_0_17"/>
          <p:cNvCxnSpPr>
            <a:stCxn id="440" idx="3"/>
            <a:endCxn id="429" idx="1"/>
          </p:cNvCxnSpPr>
          <p:nvPr/>
        </p:nvCxnSpPr>
        <p:spPr>
          <a:xfrm>
            <a:off x="4021950" y="2536150"/>
            <a:ext cx="55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2" name="Google Shape;442;g3f279b47e8f_0_17"/>
          <p:cNvSpPr/>
          <p:nvPr/>
        </p:nvSpPr>
        <p:spPr>
          <a:xfrm>
            <a:off x="4817488" y="3531250"/>
            <a:ext cx="1366500" cy="5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g3f279b47e8f_0_17"/>
          <p:cNvSpPr txBox="1"/>
          <p:nvPr/>
        </p:nvSpPr>
        <p:spPr>
          <a:xfrm>
            <a:off x="4878554" y="4282425"/>
            <a:ext cx="124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 / 날씨 / </a:t>
            </a: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는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3f279b47e8f_0_17"/>
          <p:cNvSpPr txBox="1"/>
          <p:nvPr/>
        </p:nvSpPr>
        <p:spPr>
          <a:xfrm>
            <a:off x="4878538" y="3018575"/>
            <a:ext cx="124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맑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5" name="Google Shape;445;g3f279b47e8f_0_17"/>
          <p:cNvCxnSpPr>
            <a:stCxn id="443" idx="0"/>
            <a:endCxn id="442" idx="2"/>
          </p:cNvCxnSpPr>
          <p:nvPr/>
        </p:nvCxnSpPr>
        <p:spPr>
          <a:xfrm rot="10800000">
            <a:off x="5500754" y="4108425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" name="Google Shape;446;g3f279b47e8f_0_17"/>
          <p:cNvCxnSpPr>
            <a:stCxn id="442" idx="0"/>
            <a:endCxn id="444" idx="2"/>
          </p:cNvCxnSpPr>
          <p:nvPr/>
        </p:nvCxnSpPr>
        <p:spPr>
          <a:xfrm rot="10800000">
            <a:off x="5500738" y="3357250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7" name="Google Shape;447;g3f279b47e8f_0_17"/>
          <p:cNvSpPr/>
          <p:nvPr/>
        </p:nvSpPr>
        <p:spPr>
          <a:xfrm>
            <a:off x="6652463" y="3531250"/>
            <a:ext cx="1366500" cy="5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f279b47e8f_0_17"/>
          <p:cNvSpPr txBox="1"/>
          <p:nvPr/>
        </p:nvSpPr>
        <p:spPr>
          <a:xfrm>
            <a:off x="6695675" y="4282425"/>
            <a:ext cx="128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 / 날씨 / </a:t>
            </a: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는 / 맑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f279b47e8f_0_17"/>
          <p:cNvSpPr txBox="1"/>
          <p:nvPr/>
        </p:nvSpPr>
        <p:spPr>
          <a:xfrm>
            <a:off x="6713513" y="3018575"/>
            <a:ext cx="124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을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0" name="Google Shape;450;g3f279b47e8f_0_17"/>
          <p:cNvCxnSpPr>
            <a:stCxn id="448" idx="0"/>
            <a:endCxn id="447" idx="2"/>
          </p:cNvCxnSpPr>
          <p:nvPr/>
        </p:nvCxnSpPr>
        <p:spPr>
          <a:xfrm rot="10800000">
            <a:off x="7335725" y="4108425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1" name="Google Shape;451;g3f279b47e8f_0_17"/>
          <p:cNvCxnSpPr>
            <a:stCxn id="447" idx="0"/>
            <a:endCxn id="449" idx="2"/>
          </p:cNvCxnSpPr>
          <p:nvPr/>
        </p:nvCxnSpPr>
        <p:spPr>
          <a:xfrm rot="10800000">
            <a:off x="7335713" y="3357250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f279b47e8f_0_18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f279b47e8f_0_188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f279b47e8f_0_188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f279b47e8f_0_188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f279b47e8f_0_188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f279b47e8f_0_188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Pre-training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f279b47e8f_0_188"/>
          <p:cNvSpPr txBox="1"/>
          <p:nvPr/>
        </p:nvSpPr>
        <p:spPr>
          <a:xfrm>
            <a:off x="876150" y="1653550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토크나이저의 단어 사전에서 가장 적합한 토큰을 찾는 ‘분류’ 문제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f279b47e8f_0_188"/>
          <p:cNvSpPr/>
          <p:nvPr/>
        </p:nvSpPr>
        <p:spPr>
          <a:xfrm>
            <a:off x="3842688" y="3181350"/>
            <a:ext cx="1366500" cy="5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f279b47e8f_0_188"/>
          <p:cNvSpPr txBox="1"/>
          <p:nvPr/>
        </p:nvSpPr>
        <p:spPr>
          <a:xfrm>
            <a:off x="2638363" y="3300600"/>
            <a:ext cx="58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f279b47e8f_0_188"/>
          <p:cNvSpPr txBox="1"/>
          <p:nvPr/>
        </p:nvSpPr>
        <p:spPr>
          <a:xfrm>
            <a:off x="5829713" y="2492550"/>
            <a:ext cx="8205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날씨</a:t>
            </a:r>
            <a:endParaRPr sz="1000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기분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은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정말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상황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눈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택배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6" name="Google Shape;466;g3f279b47e8f_0_188"/>
          <p:cNvCxnSpPr>
            <a:stCxn id="464" idx="3"/>
            <a:endCxn id="463" idx="1"/>
          </p:cNvCxnSpPr>
          <p:nvPr/>
        </p:nvCxnSpPr>
        <p:spPr>
          <a:xfrm>
            <a:off x="3222163" y="3469950"/>
            <a:ext cx="62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7" name="Google Shape;467;g3f279b47e8f_0_188"/>
          <p:cNvCxnSpPr>
            <a:stCxn id="463" idx="3"/>
            <a:endCxn id="465" idx="1"/>
          </p:cNvCxnSpPr>
          <p:nvPr/>
        </p:nvCxnSpPr>
        <p:spPr>
          <a:xfrm>
            <a:off x="5209188" y="3469950"/>
            <a:ext cx="62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8" name="Google Shape;468;g3f279b47e8f_0_188"/>
          <p:cNvCxnSpPr/>
          <p:nvPr/>
        </p:nvCxnSpPr>
        <p:spPr>
          <a:xfrm>
            <a:off x="5907375" y="2563250"/>
            <a:ext cx="0" cy="18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9" name="Google Shape;469;g3f279b47e8f_0_188"/>
          <p:cNvSpPr txBox="1"/>
          <p:nvPr/>
        </p:nvSpPr>
        <p:spPr>
          <a:xfrm>
            <a:off x="6508713" y="2492550"/>
            <a:ext cx="8205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0.05</a:t>
            </a:r>
            <a:endParaRPr sz="1000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0.04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0.04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0.03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0.03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0.02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0.01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279b47e8f_0_9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f279b47e8f_0_9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f279b47e8f_0_9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g3f279b47e8f_0_96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f279b47e8f_0_9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f279b47e8f_0_9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Pre-training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f279b47e8f_0_96"/>
          <p:cNvSpPr txBox="1"/>
          <p:nvPr/>
        </p:nvSpPr>
        <p:spPr>
          <a:xfrm>
            <a:off x="876150" y="2060950"/>
            <a:ext cx="7536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문장을 완성하는 과정에서 통계적으로 문맥에 알맞는 단어를 선택하도록 학습하게 된다.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이 단계에서는 그냥 그럴 듯한 문장을 만들어내기만 할 뿐, 의사소통이 가능한 상태가 아님.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따라서 우리가 아는 챗봇을 만들기 위해선 추가 학습이 필요하다.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279b47e8f_0_5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f279b47e8f_0_58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3f279b47e8f_0_58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g3f279b47e8f_0_58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f279b47e8f_0_58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f279b47e8f_0_58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Supervised Fine Tuning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f279b47e8f_0_58"/>
          <p:cNvSpPr txBox="1"/>
          <p:nvPr/>
        </p:nvSpPr>
        <p:spPr>
          <a:xfrm>
            <a:off x="876150" y="1703825"/>
            <a:ext cx="7536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우리가 아는 AI Assistant와 같이 행동할 수 있도록 대화 내용을 학습한다.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그냥 확률에 의거해 아무 말이나 하던 언어 모델을 특정 의도에 맞춰 대화할 수 있도록 안내하는 역할 (텍스트 요약, 질문 답변 등)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3f279b47e8f_0_58"/>
          <p:cNvSpPr txBox="1"/>
          <p:nvPr/>
        </p:nvSpPr>
        <p:spPr>
          <a:xfrm>
            <a:off x="5844900" y="4502975"/>
            <a:ext cx="142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input : 오늘 날씨 어때?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f279b47e8f_0_58"/>
          <p:cNvSpPr txBox="1"/>
          <p:nvPr/>
        </p:nvSpPr>
        <p:spPr>
          <a:xfrm>
            <a:off x="4702350" y="2812650"/>
            <a:ext cx="371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output : 안녕하세요! 오늘 날씨는 구름 한 점 없이 맑을 예정입니다!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f279b47e8f_0_58"/>
          <p:cNvSpPr/>
          <p:nvPr/>
        </p:nvSpPr>
        <p:spPr>
          <a:xfrm>
            <a:off x="5305500" y="3657810"/>
            <a:ext cx="2503800" cy="40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5" name="Google Shape;495;g3f279b47e8f_0_58"/>
          <p:cNvCxnSpPr>
            <a:stCxn id="492" idx="0"/>
            <a:endCxn id="494" idx="2"/>
          </p:cNvCxnSpPr>
          <p:nvPr/>
        </p:nvCxnSpPr>
        <p:spPr>
          <a:xfrm rot="10800000">
            <a:off x="6557400" y="4058075"/>
            <a:ext cx="0" cy="44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6" name="Google Shape;496;g3f279b47e8f_0_58"/>
          <p:cNvCxnSpPr>
            <a:stCxn id="494" idx="0"/>
            <a:endCxn id="493" idx="2"/>
          </p:cNvCxnSpPr>
          <p:nvPr/>
        </p:nvCxnSpPr>
        <p:spPr>
          <a:xfrm rot="10800000">
            <a:off x="6557400" y="3151410"/>
            <a:ext cx="0" cy="50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7" name="Google Shape;497;g3f279b47e8f_0_58"/>
          <p:cNvSpPr txBox="1"/>
          <p:nvPr/>
        </p:nvSpPr>
        <p:spPr>
          <a:xfrm>
            <a:off x="1911650" y="4502975"/>
            <a:ext cx="142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input : 오늘 날씨 어때?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g3f279b47e8f_0_58"/>
          <p:cNvSpPr txBox="1"/>
          <p:nvPr/>
        </p:nvSpPr>
        <p:spPr>
          <a:xfrm>
            <a:off x="769100" y="2812650"/>
            <a:ext cx="371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output : </a:t>
            </a: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 날씨는 맑다. 그러나 나의 기분은 어둡기만 하다…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f279b47e8f_0_58"/>
          <p:cNvSpPr/>
          <p:nvPr/>
        </p:nvSpPr>
        <p:spPr>
          <a:xfrm>
            <a:off x="1372250" y="3657810"/>
            <a:ext cx="2503800" cy="40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0" name="Google Shape;500;g3f279b47e8f_0_58"/>
          <p:cNvCxnSpPr>
            <a:stCxn id="497" idx="0"/>
            <a:endCxn id="499" idx="2"/>
          </p:cNvCxnSpPr>
          <p:nvPr/>
        </p:nvCxnSpPr>
        <p:spPr>
          <a:xfrm rot="10800000">
            <a:off x="2624150" y="4058075"/>
            <a:ext cx="0" cy="44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1" name="Google Shape;501;g3f279b47e8f_0_58"/>
          <p:cNvCxnSpPr>
            <a:stCxn id="499" idx="0"/>
            <a:endCxn id="498" idx="2"/>
          </p:cNvCxnSpPr>
          <p:nvPr/>
        </p:nvCxnSpPr>
        <p:spPr>
          <a:xfrm rot="10800000">
            <a:off x="2624150" y="3151410"/>
            <a:ext cx="0" cy="50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2" name="Google Shape;502;g3f279b47e8f_0_58"/>
          <p:cNvCxnSpPr>
            <a:stCxn id="499" idx="3"/>
            <a:endCxn id="494" idx="1"/>
          </p:cNvCxnSpPr>
          <p:nvPr/>
        </p:nvCxnSpPr>
        <p:spPr>
          <a:xfrm>
            <a:off x="3876050" y="3857910"/>
            <a:ext cx="142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299fd751c_0_4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f299fd751c_0_4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f299fd751c_0_4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g3f299fd751c_0_45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3f299fd751c_0_4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f299fd751c_0_4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강화학습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g3f299fd751c_0_45"/>
          <p:cNvSpPr txBox="1"/>
          <p:nvPr/>
        </p:nvSpPr>
        <p:spPr>
          <a:xfrm>
            <a:off x="876150" y="1767975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SFT 만으로는 부족한 이유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f299fd751c_0_45"/>
          <p:cNvSpPr txBox="1"/>
          <p:nvPr/>
        </p:nvSpPr>
        <p:spPr>
          <a:xfrm>
            <a:off x="876150" y="2332400"/>
            <a:ext cx="7536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SFT는 모델에게 어떻게 대답해야 하는지 가르치지만, 현실에선 정답이 하나가 아닌 경우가 많음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같은 대답이라도 사람이 더 선호하는 대답 스타일이 있음.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“치킨은 정말 맛있죠.”</a:t>
            </a: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“치킨 너무 맛있지 않나요? 저는 특히 맛초킹을 좋아한답니다!”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그래서 강화학습을 통해 인간이 선호하는 답변을 모델에 학습시킨다.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f299fd751c_0_2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g3f299fd751c_0_2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g3f299fd751c_0_2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f299fd751c_0_27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g3f299fd751c_0_2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f299fd751c_0_2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강화학습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g3f299fd751c_0_27"/>
          <p:cNvSpPr txBox="1"/>
          <p:nvPr/>
        </p:nvSpPr>
        <p:spPr>
          <a:xfrm>
            <a:off x="876150" y="1703825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RLHF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f299fd751c_0_27"/>
          <p:cNvSpPr txBox="1"/>
          <p:nvPr/>
        </p:nvSpPr>
        <p:spPr>
          <a:xfrm>
            <a:off x="876150" y="2113875"/>
            <a:ext cx="75363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OpenAI에서 고안한 방법으로, 사람의 선호도를 학습한 reward 모델을 이용해 챗봇이 만든 답변을 평가한다.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챗봇은 reward 모델의 피드백을 바탕으로 더 나은 답변을 만들게 된다.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문제는 구현이 어려워 제 성능을 내기가 어렵다.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f299fd751c_0_27"/>
          <p:cNvSpPr txBox="1"/>
          <p:nvPr/>
        </p:nvSpPr>
        <p:spPr>
          <a:xfrm>
            <a:off x="876150" y="3583750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DPO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3f299fd751c_0_27"/>
          <p:cNvSpPr txBox="1"/>
          <p:nvPr/>
        </p:nvSpPr>
        <p:spPr>
          <a:xfrm>
            <a:off x="876150" y="3918600"/>
            <a:ext cx="7536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RLHF를 단순화하면서도 인간의 선호도를 반영하는 강화학습 방법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reward 모델을 사용하지 않고, 인간의 답변 선호 데이터로 LLM을 직접 학습시킨다.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f299fd751c_0_7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g3f299fd751c_0_7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g3f299fd751c_0_7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g3f299fd751c_0_74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g3f299fd751c_0_7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g3f299fd751c_0_7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강화학습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g3f299fd751c_0_74"/>
          <p:cNvSpPr txBox="1"/>
          <p:nvPr/>
        </p:nvSpPr>
        <p:spPr>
          <a:xfrm>
            <a:off x="876150" y="1603750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DPO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g3f299fd751c_0_74"/>
          <p:cNvSpPr/>
          <p:nvPr/>
        </p:nvSpPr>
        <p:spPr>
          <a:xfrm>
            <a:off x="932450" y="2099325"/>
            <a:ext cx="3192000" cy="239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"prompt": "파이썬 리스트에서 중복을 제거하는 방법은?",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"chosen": "set()을 사용하면 중복을 제거할 수 있어요.\n예: list(set([1,2,2,3])) → [1,2,3]\n단, 순서는 보장되지 않으니 순서가 중요하다면 dict.fromkeys()를 활용하세요.",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"rejected": "리스트에서 중복을 없애면 됩니다."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g3f299fd751c_0_74"/>
          <p:cNvSpPr/>
          <p:nvPr/>
        </p:nvSpPr>
        <p:spPr>
          <a:xfrm>
            <a:off x="4491500" y="2099325"/>
            <a:ext cx="3192000" cy="104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 : 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"파이썬 리스트에서 중복을 제거하는 방법은?"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: “set()을 사용하면 중복을 제거할 수 있어요.\n예: list(set([1,2,2,3])) → [1,2,3]\n단, 순서는 보장되지 않으니 순서가 중요하다면 dict.fromkeys()를 활용하세요."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g3f299fd751c_0_74"/>
          <p:cNvSpPr/>
          <p:nvPr/>
        </p:nvSpPr>
        <p:spPr>
          <a:xfrm>
            <a:off x="4491500" y="3447525"/>
            <a:ext cx="3192000" cy="104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 : "파이썬 리스트에서 중복을 제거하는 방법은?"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: “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리스트에서 중복을 없애면 됩니다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3" name="Google Shape;543;g3f299fd751c_0_74"/>
          <p:cNvCxnSpPr>
            <a:stCxn id="540" idx="3"/>
          </p:cNvCxnSpPr>
          <p:nvPr/>
        </p:nvCxnSpPr>
        <p:spPr>
          <a:xfrm>
            <a:off x="4124450" y="3294975"/>
            <a:ext cx="14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" name="Google Shape;544;g3f299fd751c_0_74"/>
          <p:cNvCxnSpPr/>
          <p:nvPr/>
        </p:nvCxnSpPr>
        <p:spPr>
          <a:xfrm rot="10800000">
            <a:off x="4274150" y="2622800"/>
            <a:ext cx="2700" cy="136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" name="Google Shape;545;g3f299fd751c_0_74"/>
          <p:cNvCxnSpPr>
            <a:endCxn id="541" idx="1"/>
          </p:cNvCxnSpPr>
          <p:nvPr/>
        </p:nvCxnSpPr>
        <p:spPr>
          <a:xfrm flipH="1" rot="10800000">
            <a:off x="4273100" y="2620875"/>
            <a:ext cx="2184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6" name="Google Shape;546;g3f299fd751c_0_74"/>
          <p:cNvCxnSpPr/>
          <p:nvPr/>
        </p:nvCxnSpPr>
        <p:spPr>
          <a:xfrm flipH="1" rot="10800000">
            <a:off x="4273225" y="3989000"/>
            <a:ext cx="2184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7" name="Google Shape;547;g3f299fd751c_0_74"/>
          <p:cNvSpPr txBox="1"/>
          <p:nvPr/>
        </p:nvSpPr>
        <p:spPr>
          <a:xfrm>
            <a:off x="7806575" y="2343825"/>
            <a:ext cx="79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확률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UP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3f299fd751c_0_74"/>
          <p:cNvSpPr txBox="1"/>
          <p:nvPr/>
        </p:nvSpPr>
        <p:spPr>
          <a:xfrm>
            <a:off x="7806575" y="3692025"/>
            <a:ext cx="79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확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률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DOWN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f2a70976d9_0_15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g3f2a70976d9_0_15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g3f2a70976d9_0_15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g3f2a70976d9_0_154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g3f2a70976d9_0_15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g3f2a70976d9_0_15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Base Model vs. Instruct Model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9" name="Google Shape;559;g3f2a70976d9_0_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874" y="2087625"/>
            <a:ext cx="3792501" cy="161065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</p:pic>
      <p:pic>
        <p:nvPicPr>
          <p:cNvPr id="560" name="Google Shape;560;g3f2a70976d9_0_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1125" y="2087625"/>
            <a:ext cx="2654595" cy="161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f279b47e8f_0_14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g3f279b47e8f_0_14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g3f279b47e8f_0_14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g3f279b47e8f_0_144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3f279b47e8f_0_14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3f279b47e8f_0_14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Base Model vs. Instruct Model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g3f279b47e8f_0_144"/>
          <p:cNvSpPr/>
          <p:nvPr/>
        </p:nvSpPr>
        <p:spPr>
          <a:xfrm>
            <a:off x="954925" y="2015975"/>
            <a:ext cx="2285700" cy="1158900"/>
          </a:xfrm>
          <a:prstGeom prst="roundRect">
            <a:avLst>
              <a:gd fmla="val 16667" name="adj"/>
            </a:avLst>
          </a:prstGeom>
          <a:solidFill>
            <a:srgbClr val="E8EAF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g3f279b47e8f_0_144"/>
          <p:cNvSpPr/>
          <p:nvPr/>
        </p:nvSpPr>
        <p:spPr>
          <a:xfrm>
            <a:off x="1407675" y="1748550"/>
            <a:ext cx="1404600" cy="4512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g3f279b47e8f_0_144"/>
          <p:cNvSpPr txBox="1"/>
          <p:nvPr/>
        </p:nvSpPr>
        <p:spPr>
          <a:xfrm>
            <a:off x="1407675" y="1858659"/>
            <a:ext cx="140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 Model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g3f279b47e8f_0_144"/>
          <p:cNvSpPr/>
          <p:nvPr/>
        </p:nvSpPr>
        <p:spPr>
          <a:xfrm>
            <a:off x="954925" y="3449950"/>
            <a:ext cx="2285700" cy="1158900"/>
          </a:xfrm>
          <a:prstGeom prst="roundRect">
            <a:avLst>
              <a:gd fmla="val 16667" name="adj"/>
            </a:avLst>
          </a:prstGeom>
          <a:solidFill>
            <a:srgbClr val="E8EAF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g3f279b47e8f_0_144"/>
          <p:cNvSpPr/>
          <p:nvPr/>
        </p:nvSpPr>
        <p:spPr>
          <a:xfrm>
            <a:off x="1407675" y="3309950"/>
            <a:ext cx="1404600" cy="4512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g3f279b47e8f_0_144"/>
          <p:cNvSpPr txBox="1"/>
          <p:nvPr/>
        </p:nvSpPr>
        <p:spPr>
          <a:xfrm>
            <a:off x="1407675" y="3420059"/>
            <a:ext cx="140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</a:t>
            </a:r>
            <a:r>
              <a:rPr b="1" lang="en-US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Model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g3f279b47e8f_0_144"/>
          <p:cNvSpPr txBox="1"/>
          <p:nvPr/>
        </p:nvSpPr>
        <p:spPr>
          <a:xfrm>
            <a:off x="1041225" y="2312250"/>
            <a:ext cx="2137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사전 학습만 수행된 모델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- 대화 능력 없이 텍스트 생성 가능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f279b47e8f_0_144"/>
          <p:cNvSpPr txBox="1"/>
          <p:nvPr/>
        </p:nvSpPr>
        <p:spPr>
          <a:xfrm>
            <a:off x="1041225" y="3797275"/>
            <a:ext cx="2137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SFT + DPO까지 수행한 모델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기본적인 대화 능력을 갖춘 모델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g3f279b47e8f_0_144"/>
          <p:cNvSpPr txBox="1"/>
          <p:nvPr/>
        </p:nvSpPr>
        <p:spPr>
          <a:xfrm>
            <a:off x="3933275" y="1971450"/>
            <a:ext cx="4586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도메인 특화 어시스턴트를 처음부터 설계할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데이터가 충분히 많을 때 (1000개 이상)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텍스트 완성 자체가 목적인 경우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어시스턴트 스러운 말투가 필요 없을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f279b47e8f_0_144"/>
          <p:cNvSpPr txBox="1"/>
          <p:nvPr/>
        </p:nvSpPr>
        <p:spPr>
          <a:xfrm>
            <a:off x="3933275" y="3706150"/>
            <a:ext cx="4586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어시스턴트 챗봇을 만들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데이터가 충분치 않을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f299fd751c_0_9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g3f299fd751c_0_9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g3f299fd751c_0_9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3f299fd751c_0_97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g3f299fd751c_0_9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g3f299fd751c_0_97"/>
          <p:cNvSpPr txBox="1"/>
          <p:nvPr/>
        </p:nvSpPr>
        <p:spPr>
          <a:xfrm>
            <a:off x="731519" y="2318589"/>
            <a:ext cx="7680900" cy="13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사전학습된 </a:t>
            </a: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</a:t>
            </a: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이용해서 </a:t>
            </a:r>
            <a:endParaRPr b="1" sz="3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텍스트 생성해보기</a:t>
            </a:r>
            <a:endParaRPr sz="3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f279b47e8f_0_16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g3f279b47e8f_0_168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g3f279b47e8f_0_168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g3f279b47e8f_0_168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g3f279b47e8f_0_168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g3f279b47e8f_0_168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텍스트 생성하는 방법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g3f279b47e8f_0_168"/>
          <p:cNvSpPr txBox="1"/>
          <p:nvPr/>
        </p:nvSpPr>
        <p:spPr>
          <a:xfrm>
            <a:off x="876150" y="1703825"/>
            <a:ext cx="7536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이렇게 학습된 모델을 이용해 어떻게 텍스트를 생성할까?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LLM은 기본적으로 다음에 올 가장 확률이 높은 토큰 하나를 예측하는 방식으로 학습된다.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하지만 실제로 같은 문장이라도, 뒤에 올 수 있는 단어는 굉장히 다양하다.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g3f279b47e8f_0_168"/>
          <p:cNvSpPr/>
          <p:nvPr/>
        </p:nvSpPr>
        <p:spPr>
          <a:xfrm>
            <a:off x="3430888" y="3503875"/>
            <a:ext cx="1366500" cy="5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g3f279b47e8f_0_168"/>
          <p:cNvSpPr txBox="1"/>
          <p:nvPr/>
        </p:nvSpPr>
        <p:spPr>
          <a:xfrm>
            <a:off x="2226563" y="3623125"/>
            <a:ext cx="58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g3f279b47e8f_0_168"/>
          <p:cNvSpPr txBox="1"/>
          <p:nvPr/>
        </p:nvSpPr>
        <p:spPr>
          <a:xfrm>
            <a:off x="5417913" y="2815075"/>
            <a:ext cx="8205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날씨</a:t>
            </a:r>
            <a:endParaRPr sz="1000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기분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은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정말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상황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눈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택배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5" name="Google Shape;605;g3f279b47e8f_0_168"/>
          <p:cNvCxnSpPr>
            <a:stCxn id="603" idx="3"/>
            <a:endCxn id="602" idx="1"/>
          </p:cNvCxnSpPr>
          <p:nvPr/>
        </p:nvCxnSpPr>
        <p:spPr>
          <a:xfrm>
            <a:off x="2810363" y="3792475"/>
            <a:ext cx="62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6" name="Google Shape;606;g3f279b47e8f_0_168"/>
          <p:cNvCxnSpPr>
            <a:stCxn id="602" idx="3"/>
            <a:endCxn id="604" idx="1"/>
          </p:cNvCxnSpPr>
          <p:nvPr/>
        </p:nvCxnSpPr>
        <p:spPr>
          <a:xfrm>
            <a:off x="4797388" y="3792475"/>
            <a:ext cx="62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7" name="Google Shape;607;g3f279b47e8f_0_168"/>
          <p:cNvCxnSpPr/>
          <p:nvPr/>
        </p:nvCxnSpPr>
        <p:spPr>
          <a:xfrm>
            <a:off x="5495575" y="2885775"/>
            <a:ext cx="0" cy="18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8" name="Google Shape;608;g3f279b47e8f_0_168"/>
          <p:cNvSpPr txBox="1"/>
          <p:nvPr/>
        </p:nvSpPr>
        <p:spPr>
          <a:xfrm>
            <a:off x="6096913" y="2815075"/>
            <a:ext cx="8205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0.05</a:t>
            </a:r>
            <a:endParaRPr sz="1000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0.04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0.04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0.03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0.03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0.02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0.01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f2a70976d9_0_17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g3f2a70976d9_0_17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g3f2a70976d9_0_17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g3f2a70976d9_0_177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g3f2a70976d9_0_17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g3f2a70976d9_0_17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텍스트 생성하는 방법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g3f2a70976d9_0_177"/>
          <p:cNvSpPr txBox="1"/>
          <p:nvPr/>
        </p:nvSpPr>
        <p:spPr>
          <a:xfrm>
            <a:off x="876150" y="1703825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학습과 관계 없이 텍스트 생성을 조절할 수 있는 여러가지 설정값들이 존재한다.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g3f2a70976d9_0_177"/>
          <p:cNvSpPr txBox="1"/>
          <p:nvPr/>
        </p:nvSpPr>
        <p:spPr>
          <a:xfrm>
            <a:off x="876150" y="2371650"/>
            <a:ext cx="7536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max_new_tokens : 생성 가능한 최대 답변 길이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do_sample : 랜덤 샘플링 or 확률이 가장 높은 단어만 출력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temperature : 낮을 수록 등장확률이 높은 소수의 단어만 출력됨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repetition_penalty : 클수록 모델이 같은 단어 토큰을 다시 사용할 확률이 줄어듦.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…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f22fe52246_0_254"/>
          <p:cNvSpPr/>
          <p:nvPr/>
        </p:nvSpPr>
        <p:spPr>
          <a:xfrm>
            <a:off x="0" y="0"/>
            <a:ext cx="7667100" cy="5143500"/>
          </a:xfrm>
          <a:prstGeom prst="roundRect">
            <a:avLst>
              <a:gd fmla="val 1871" name="adj"/>
            </a:avLst>
          </a:prstGeom>
          <a:solidFill>
            <a:srgbClr val="E8402A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g3f22fe52246_0_254"/>
          <p:cNvSpPr/>
          <p:nvPr/>
        </p:nvSpPr>
        <p:spPr>
          <a:xfrm>
            <a:off x="0" y="0"/>
            <a:ext cx="6376200" cy="51435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g3f22fe52246_0_254"/>
          <p:cNvSpPr txBox="1"/>
          <p:nvPr/>
        </p:nvSpPr>
        <p:spPr>
          <a:xfrm>
            <a:off x="621875" y="2117550"/>
            <a:ext cx="545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Calibri"/>
                <a:ea typeface="Calibri"/>
                <a:cs typeface="Calibri"/>
                <a:sym typeface="Calibri"/>
              </a:rPr>
              <a:t>3. LLM Fine-tuning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f22fe52246_0_26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g3f22fe52246_0_26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g3f22fe52246_0_26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g3f22fe52246_0_26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g3f22fe52246_0_26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g3f22fe52246_0_260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미세 조정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방법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g3f22fe52246_0_260"/>
          <p:cNvSpPr txBox="1"/>
          <p:nvPr/>
        </p:nvSpPr>
        <p:spPr>
          <a:xfrm>
            <a:off x="1125425" y="2747300"/>
            <a:ext cx="12045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RAG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g3f22fe52246_0_260"/>
          <p:cNvSpPr txBox="1"/>
          <p:nvPr/>
        </p:nvSpPr>
        <p:spPr>
          <a:xfrm>
            <a:off x="3091825" y="2747300"/>
            <a:ext cx="21726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Fine-tuning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g3f22fe52246_0_260"/>
          <p:cNvSpPr txBox="1"/>
          <p:nvPr/>
        </p:nvSpPr>
        <p:spPr>
          <a:xfrm>
            <a:off x="5845975" y="2544350"/>
            <a:ext cx="2172600" cy="92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Prompt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f22fe52246_0_27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g3f22fe52246_0_27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g3f22fe52246_0_27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g3f22fe52246_0_27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f22fe52246_0_27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g3f22fe52246_0_27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미세 조정 방법 - Prompt Engineering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g3f22fe52246_0_273"/>
          <p:cNvSpPr txBox="1"/>
          <p:nvPr/>
        </p:nvSpPr>
        <p:spPr>
          <a:xfrm>
            <a:off x="779350" y="1794825"/>
            <a:ext cx="426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Prompt란?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g3f22fe52246_0_273"/>
          <p:cNvSpPr txBox="1"/>
          <p:nvPr/>
        </p:nvSpPr>
        <p:spPr>
          <a:xfrm>
            <a:off x="779350" y="2213750"/>
            <a:ext cx="76332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LLM에 입력되는 지시문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LLM은 프롬프트의 맥락을 파악하고 답변할 수 있는 능력을 갖고 있음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별도 학습, 인프라 없이 즉시 적용 가능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프롬프트 엔지니어링 만으로는 모델의 행동을 완벽히 통제하기 어려움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g3f22fe52246_0_273"/>
          <p:cNvSpPr txBox="1"/>
          <p:nvPr/>
        </p:nvSpPr>
        <p:spPr>
          <a:xfrm>
            <a:off x="1338200" y="4126800"/>
            <a:ext cx="232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“LLM의 역사에 대해 알려줘.”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g3f22fe52246_0_273"/>
          <p:cNvSpPr txBox="1"/>
          <p:nvPr/>
        </p:nvSpPr>
        <p:spPr>
          <a:xfrm>
            <a:off x="4308875" y="4126800"/>
            <a:ext cx="388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“LLM의 역사를 시기 별로 정리해서 표로 정리해줘.”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5" name="Google Shape;655;g3f22fe52246_0_273"/>
          <p:cNvCxnSpPr>
            <a:stCxn id="653" idx="3"/>
            <a:endCxn id="654" idx="1"/>
          </p:cNvCxnSpPr>
          <p:nvPr/>
        </p:nvCxnSpPr>
        <p:spPr>
          <a:xfrm>
            <a:off x="3666800" y="4326900"/>
            <a:ext cx="64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f22fe52246_0_28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g3f22fe52246_0_28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g3f22fe52246_0_28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f22fe52246_0_28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g3f22fe52246_0_28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g3f22fe52246_0_28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미세 조정 방법 - RAG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g3f22fe52246_0_285"/>
          <p:cNvSpPr txBox="1"/>
          <p:nvPr/>
        </p:nvSpPr>
        <p:spPr>
          <a:xfrm>
            <a:off x="779350" y="1794825"/>
            <a:ext cx="426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RAG(Retrieval Augmented Generator)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란?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g3f22fe52246_0_285"/>
          <p:cNvSpPr txBox="1"/>
          <p:nvPr/>
        </p:nvSpPr>
        <p:spPr>
          <a:xfrm>
            <a:off x="779350" y="2213750"/>
            <a:ext cx="7633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아무리 똑똑한 LLM이라도 전세계의 모든 정보를 학습할 수는 없음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추가 학습 없이 LLM이 아직 보지 못한 데이터를 기반으로 답변할 수 있음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402A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E8402A"/>
                </a:solidFill>
                <a:latin typeface="Calibri"/>
                <a:ea typeface="Calibri"/>
                <a:cs typeface="Calibri"/>
                <a:sym typeface="Calibri"/>
              </a:rPr>
              <a:t>파이프라인 구축, 운영이 필요하고 검색 품질에 따라 답변 정확도가 달라짐</a:t>
            </a:r>
            <a:endParaRPr>
              <a:solidFill>
                <a:srgbClr val="E840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8" name="Google Shape;668;g3f22fe52246_0_2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2400" y="3698275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g3f22fe52246_0_2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6850" y="3698275"/>
            <a:ext cx="914400" cy="91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0" name="Google Shape;670;g3f22fe52246_0_285"/>
          <p:cNvCxnSpPr/>
          <p:nvPr/>
        </p:nvCxnSpPr>
        <p:spPr>
          <a:xfrm>
            <a:off x="2692118" y="4218150"/>
            <a:ext cx="1425000" cy="30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1" name="Google Shape;671;g3f22fe52246_0_285"/>
          <p:cNvCxnSpPr/>
          <p:nvPr/>
        </p:nvCxnSpPr>
        <p:spPr>
          <a:xfrm flipH="1">
            <a:off x="2692125" y="3871575"/>
            <a:ext cx="3770700" cy="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72" name="Google Shape;672;g3f22fe52246_0_2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8038" y="3804563"/>
            <a:ext cx="676050" cy="67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g3f22fe52246_0_2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39861" y="3993450"/>
            <a:ext cx="676050" cy="676050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pic>
      <p:cxnSp>
        <p:nvCxnSpPr>
          <p:cNvPr id="674" name="Google Shape;674;g3f22fe52246_0_285"/>
          <p:cNvCxnSpPr/>
          <p:nvPr/>
        </p:nvCxnSpPr>
        <p:spPr>
          <a:xfrm flipH="1" rot="10800000">
            <a:off x="5014400" y="4021150"/>
            <a:ext cx="1466700" cy="50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5" name="Google Shape;675;g3f22fe52246_0_285"/>
          <p:cNvSpPr txBox="1"/>
          <p:nvPr/>
        </p:nvSpPr>
        <p:spPr>
          <a:xfrm>
            <a:off x="4104575" y="4669488"/>
            <a:ext cx="93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Retriever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g3f22fe52246_0_285"/>
          <p:cNvSpPr txBox="1"/>
          <p:nvPr/>
        </p:nvSpPr>
        <p:spPr>
          <a:xfrm>
            <a:off x="6476650" y="3396288"/>
            <a:ext cx="93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LLM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g3f22fe52246_0_285"/>
          <p:cNvSpPr txBox="1"/>
          <p:nvPr/>
        </p:nvSpPr>
        <p:spPr>
          <a:xfrm>
            <a:off x="1822200" y="3396288"/>
            <a:ext cx="93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f22fe52246_0_29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g3f22fe52246_0_29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g3f22fe52246_0_29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g3f22fe52246_0_29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3f22fe52246_0_29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g3f22fe52246_0_29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미세 조정 방법 - Fine tuning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g3f22fe52246_0_294"/>
          <p:cNvSpPr txBox="1"/>
          <p:nvPr/>
        </p:nvSpPr>
        <p:spPr>
          <a:xfrm>
            <a:off x="779350" y="1794825"/>
            <a:ext cx="426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Fine-tuning 이란?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g3f22fe52246_0_294"/>
          <p:cNvSpPr txBox="1"/>
          <p:nvPr/>
        </p:nvSpPr>
        <p:spPr>
          <a:xfrm>
            <a:off x="779350" y="2213750"/>
            <a:ext cx="76332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특정 도메인의 데이터셋으로 사전 학습된 모델을 추가로 학습시켜 가중치 자체를 업데이트하는 방법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특정 스타일, 형식, 전문 지식을 모델에 직접 내재화할 수 있어 일관된 동작이 필요할 때 효과적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LLM을 학습하기 위한 데이터 확보와 GPU 비용이 필요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f22fe52246_0_30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g3f22fe52246_0_30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g3f22fe52246_0_30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g3f22fe52246_0_30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g3f22fe52246_0_30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g3f22fe52246_0_30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미세 조정 방법 -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비교 표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0" name="Google Shape;700;g3f22fe52246_0_303"/>
          <p:cNvGraphicFramePr/>
          <p:nvPr/>
        </p:nvGraphicFramePr>
        <p:xfrm>
          <a:off x="952500" y="1769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{637BBFDE-53E4-4BB6-A659-04D375EC195D}</a:tableStyleId>
              </a:tblPr>
              <a:tblGrid>
                <a:gridCol w="1109150"/>
                <a:gridCol w="1967175"/>
                <a:gridCol w="2045925"/>
                <a:gridCol w="2116750"/>
              </a:tblGrid>
              <a:tr h="28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Prompt Engineering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RAG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Fine-tuning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64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장점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</a:t>
                      </a:r>
                      <a:r>
                        <a:rPr lang="en-US" sz="800"/>
                        <a:t>별도 학습, 인프라 없이 즉시 적용 가능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비용이 거의 들지 않음</a:t>
                      </a:r>
                      <a:endParaRPr sz="8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최신 정보를 실시간으로 반영 가능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문서 출처를 제공해 환각 위험 감소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지식 업데이트에 재학습 불필요</a:t>
                      </a:r>
                      <a:endParaRPr sz="8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- 특정 도메인, 스타일을 모델에 직접 내제화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- 소형 모델을 fine-tuning 하여 비용절감 가능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- 일관된 출력 형식(json 등), 톤 유지에 강함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64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단점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</a:t>
                      </a:r>
                      <a:r>
                        <a:rPr lang="en-US" sz="800"/>
                        <a:t>모델의 기존 지식에 의존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프롬프트 품질에 따라 결과가 불안정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복잡한 전문 도메인 대응에 한계</a:t>
                      </a:r>
                      <a:endParaRPr sz="8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검색 파이프라인 구축, 운영 비용 발생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검색 품질에 따라 답변 정확도가 달라짐</a:t>
                      </a:r>
                      <a:endParaRPr sz="8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학습 데이터 확보와 GPU 비용 필요</a:t>
                      </a:r>
                      <a:br>
                        <a:rPr lang="en-US" sz="800"/>
                      </a:br>
                      <a:r>
                        <a:rPr lang="en-US" sz="800"/>
                        <a:t>- 데이터, 요구사항 변경 시 재학습 필요</a:t>
                      </a:r>
                      <a:endParaRPr sz="8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64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적합한 상황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</a:t>
                      </a:r>
                      <a:r>
                        <a:rPr lang="en-US" sz="800"/>
                        <a:t>빠른 프로토타이핑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간단한 태스크 형식, 출력 스타일 조정이 필요할 때</a:t>
                      </a:r>
                      <a:endParaRPr sz="8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사내 문서, 매뉴얼 기반 Q&amp;A 시스템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뉴스, 법령 등 자주 바뀌는 정보를 다룰 때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답변 출처를 명확히 제시해야 할 때</a:t>
                      </a:r>
                      <a:endParaRPr sz="8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- 특정 산업, 도메인 전문 모델이 필요할 때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- 일관된 브랜드 톤, 출력 포맷이 중요할 때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- 소형 모델로 비용절감이 필요할 때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01" name="Google Shape;701;g3f22fe52246_0_303"/>
          <p:cNvSpPr txBox="1"/>
          <p:nvPr/>
        </p:nvSpPr>
        <p:spPr>
          <a:xfrm>
            <a:off x="984000" y="4314800"/>
            <a:ext cx="723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“Fine-tuning을 적용하기 전에 다른 더 쉬운 방법은 없는지 고민을 해보고 적용해야 한다!”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f22fe52246_0_34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g3f22fe52246_0_34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g3f22fe52246_0_34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g3f22fe52246_0_34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g3f22fe52246_0_34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g3f22fe52246_0_340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미세 조정을 할 때 고려해야 하는 사항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g3f22fe52246_0_340"/>
          <p:cNvSpPr txBox="1"/>
          <p:nvPr/>
        </p:nvSpPr>
        <p:spPr>
          <a:xfrm>
            <a:off x="731525" y="1905000"/>
            <a:ext cx="7318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새로운 지식 추가가 필요할 때 -&gt; RAG가 나음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프로토타입, 간단한 튜닝 -&gt; 시스템 프롬프트 활용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Fine-tuning, RAG, Prompt Engineering 기법을 적절히 결합해서 사용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f299fd751c_0_10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g3f299fd751c_0_10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g3f299fd751c_0_10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g3f299fd751c_0_10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g3f299fd751c_0_10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g3f299fd751c_0_10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 사례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g3f299fd751c_0_106"/>
          <p:cNvSpPr txBox="1"/>
          <p:nvPr/>
        </p:nvSpPr>
        <p:spPr>
          <a:xfrm>
            <a:off x="731525" y="1841300"/>
            <a:ext cx="73182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금융 분야 감성 분석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뉴스 제목이 특정 기업에 호재인지 악재인지를 인공지능이 판단할 수 있도록 가르침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고객 상담 챗봇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기업의 과거 고객 상담 데이터를 인공지능에게 학습시켜 더 정확하고 개인화된 답변을 제공 + 기업 고유의 말투와 전문 용어까지 그대로 구사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법률 문서 보조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계약서, 판례, 법령과 같은 복잡한 법률 문서를 학습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계약서 분석, 유사 판례 검색, 법적 규제 준수 검토 등의 업무를 도움.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f22fe52246_0_50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g3f22fe52246_0_501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g3f22fe52246_0_501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g3f22fe52246_0_501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g3f22fe52246_0_501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g3f22fe52246_0_501"/>
          <p:cNvSpPr txBox="1"/>
          <p:nvPr/>
        </p:nvSpPr>
        <p:spPr>
          <a:xfrm>
            <a:off x="731519" y="2713539"/>
            <a:ext cx="7680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fine tuning </a:t>
            </a: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해보기</a:t>
            </a:r>
            <a:endParaRPr sz="3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f275b9f5c3_0_9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g3f275b9f5c3_0_91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g3f275b9f5c3_0_91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g3f275b9f5c3_0_91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g3f275b9f5c3_0_91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g3f275b9f5c3_0_91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모델 준비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g3f275b9f5c3_0_91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GPT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g3f275b9f5c3_0_91"/>
          <p:cNvSpPr txBox="1"/>
          <p:nvPr/>
        </p:nvSpPr>
        <p:spPr>
          <a:xfrm>
            <a:off x="876150" y="2213750"/>
            <a:ext cx="37758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BERT는 Transformer의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디코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더 부분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입력 토큰들을 보고 다음에 올 토큰을 예측하도록 사전학습됨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Fine-tuning은 새 레이어를 추가하는 것이 아니라 어떤 “질문-답변” 패턴으로 답변할 지를 추가로 학습시키는 것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6" name="Google Shape;746;g3f275b9f5c3_0_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6748" y="2213748"/>
            <a:ext cx="3775900" cy="196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f275b9f5c3_0_10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g3f275b9f5c3_0_10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g3f275b9f5c3_0_10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g3f275b9f5c3_0_10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g3f275b9f5c3_0_10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g3f275b9f5c3_0_10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모델 준비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g3f275b9f5c3_0_104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생성 모델은 분류 모델과 달리 모델의 크기가 훨씬 커야 원하는 성능이 나온다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g3f275b9f5c3_0_104"/>
          <p:cNvSpPr txBox="1"/>
          <p:nvPr/>
        </p:nvSpPr>
        <p:spPr>
          <a:xfrm>
            <a:off x="876150" y="2213750"/>
            <a:ext cx="7536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PEFT 과 같은 기법을 활용하지 않으면 모델을 훈련시키기 어려움.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자세한건 뒤에서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f275b9f5c3_0_11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g3f275b9f5c3_0_11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g3f275b9f5c3_0_11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g3f275b9f5c3_0_11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g3f275b9f5c3_0_11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g3f275b9f5c3_0_11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성능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g3f275b9f5c3_0_116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생성 모델의 성능은 어떻게 평가할까?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g3f275b9f5c3_0_116"/>
          <p:cNvSpPr txBox="1"/>
          <p:nvPr/>
        </p:nvSpPr>
        <p:spPr>
          <a:xfrm>
            <a:off x="876150" y="2213750"/>
            <a:ext cx="75363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정확도, F1 Score와 같이 구체적인 수치로 표현 가능한 분류 모델과 달리 생성 모델의 성능은 수치로 정확히 측정하기 어려움.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가장 좋은 것은 직접 결과를 확인하는 것 : 모델 설계 단계에서 미리 확실히 기준을 세워놓아야 한다.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